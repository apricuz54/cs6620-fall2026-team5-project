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ce1fc80ea4b497b" /><Relationship Type="http://schemas.openxmlformats.org/officeDocument/2006/relationships/extended-properties" Target="/docProps/app.xml" Id="Rc243fd13ea6f4b84" /><Relationship Type="http://schemas.openxmlformats.org/officeDocument/2006/relationships/officeDocument" Target="/ppt/presentation.xml" Id="R5b3280768ca1427b" /></Relationships>
</file>

<file path=ppt/presentation.xml><?xml version="1.0" encoding="utf-8"?>
<p:presentation xmlns:p="http://schemas.openxmlformats.org/presentationml/2006/main">
  <p:sldMasterIdLst>
    <p:sldMasterId xmlns:r="http://schemas.openxmlformats.org/officeDocument/2006/relationships" id="2147483648" r:id="R1690bd12746f4f41"/>
  </p:sldMasterIdLst>
  <p:notesMasterIdLst>
    <p:notesMasterId xmlns:r="http://schemas.openxmlformats.org/officeDocument/2006/relationships" r:id="R5ae972e8fddf4e79"/>
  </p:notesMasterIdLst>
  <p:sldIdLst>
    <p:sldId xmlns:r="http://schemas.openxmlformats.org/officeDocument/2006/relationships" id="256" r:id="R642e652e589d4667"/>
    <p:sldId xmlns:r="http://schemas.openxmlformats.org/officeDocument/2006/relationships" id="257" r:id="R6baa7525d2e849c8"/>
    <p:sldId xmlns:r="http://schemas.openxmlformats.org/officeDocument/2006/relationships" id="258" r:id="R961b26a3f50f42fd"/>
    <p:sldId xmlns:r="http://schemas.openxmlformats.org/officeDocument/2006/relationships" id="259" r:id="R7f4bf967d7b54418"/>
    <p:sldId xmlns:r="http://schemas.openxmlformats.org/officeDocument/2006/relationships" id="260" r:id="R93b2403f64aa46ba"/>
    <p:sldId xmlns:r="http://schemas.openxmlformats.org/officeDocument/2006/relationships" id="261" r:id="R02c080a1c4ac4630"/>
    <p:sldId xmlns:r="http://schemas.openxmlformats.org/officeDocument/2006/relationships" id="262" r:id="Rf91492eef7374790"/>
    <p:sldId xmlns:r="http://schemas.openxmlformats.org/officeDocument/2006/relationships" id="263" r:id="Ra6d86948eaa54e5d"/>
    <p:sldId xmlns:r="http://schemas.openxmlformats.org/officeDocument/2006/relationships" id="264" r:id="R0b392887b0d84e40"/>
    <p:sldId xmlns:r="http://schemas.openxmlformats.org/officeDocument/2006/relationships" id="265" r:id="R46ac819be21b4f85"/>
    <p:sldId xmlns:r="http://schemas.openxmlformats.org/officeDocument/2006/relationships" id="266" r:id="R2d8028005e77409d"/>
    <p:sldId xmlns:r="http://schemas.openxmlformats.org/officeDocument/2006/relationships" id="267" r:id="Rf219cf6f68a347a0"/>
    <p:sldId xmlns:r="http://schemas.openxmlformats.org/officeDocument/2006/relationships" id="268" r:id="R37bed5d3d9994dd3"/>
    <p:sldId xmlns:r="http://schemas.openxmlformats.org/officeDocument/2006/relationships" id="269" r:id="R15e3d958f8be40c8"/>
    <p:sldId xmlns:r="http://schemas.openxmlformats.org/officeDocument/2006/relationships" id="270" r:id="Rfde2dd45ea3b4d74"/>
    <p:sldId xmlns:r="http://schemas.openxmlformats.org/officeDocument/2006/relationships" id="271" r:id="R6b12fb3b4a3649de"/>
    <p:sldId xmlns:r="http://schemas.openxmlformats.org/officeDocument/2006/relationships" id="272" r:id="R200e6a47f28d4d65"/>
    <p:sldId xmlns:r="http://schemas.openxmlformats.org/officeDocument/2006/relationships" id="273" r:id="R7237b1c619914c2b"/>
    <p:sldId xmlns:r="http://schemas.openxmlformats.org/officeDocument/2006/relationships" id="274" r:id="R20d09d72a5f147bf"/>
    <p:sldId xmlns:r="http://schemas.openxmlformats.org/officeDocument/2006/relationships" id="275" r:id="R459b07909a534faf"/>
    <p:sldId xmlns:r="http://schemas.openxmlformats.org/officeDocument/2006/relationships" id="276" r:id="R11d8400078454e61"/>
    <p:sldId xmlns:r="http://schemas.openxmlformats.org/officeDocument/2006/relationships" id="277" r:id="R077894d8f6644d83"/>
    <p:sldId xmlns:r="http://schemas.openxmlformats.org/officeDocument/2006/relationships" id="278" r:id="R8734fe78da9d4b10"/>
    <p:sldId xmlns:r="http://schemas.openxmlformats.org/officeDocument/2006/relationships" id="279" r:id="Rfb1bd18611d14bd2"/>
    <p:sldId xmlns:r="http://schemas.openxmlformats.org/officeDocument/2006/relationships" id="280" r:id="Rd8ad0e017889449f"/>
    <p:sldId xmlns:r="http://schemas.openxmlformats.org/officeDocument/2006/relationships" id="281" r:id="R76c60d86c91449b5"/>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43797e0f914eb8" /><Relationship Type="http://schemas.openxmlformats.org/officeDocument/2006/relationships/slideMaster" Target="/ppt/slideMasters/slideMaster1.xml" Id="R1690bd12746f4f41" /><Relationship Type="http://schemas.openxmlformats.org/officeDocument/2006/relationships/notesMaster" Target="/ppt/notesMasters/notesMaster1.xml" Id="R5ae972e8fddf4e79" /><Relationship Type="http://schemas.openxmlformats.org/officeDocument/2006/relationships/presProps" Target="/ppt/presProps.xml" Id="Rf5df08d83aff4214" /><Relationship Type="http://schemas.openxmlformats.org/officeDocument/2006/relationships/tableStyles" Target="/ppt/tableStyles.xml" Id="R6fe0b160cc9d46d2" /><Relationship Type="http://schemas.openxmlformats.org/officeDocument/2006/relationships/slide" Target="/ppt/slides/slide1.xml" Id="R642e652e589d4667" /><Relationship Type="http://schemas.openxmlformats.org/officeDocument/2006/relationships/slide" Target="/ppt/slides/slide2.xml" Id="R6baa7525d2e849c8" /><Relationship Type="http://schemas.openxmlformats.org/officeDocument/2006/relationships/slide" Target="/ppt/slides/slide3.xml" Id="R961b26a3f50f42fd" /><Relationship Type="http://schemas.openxmlformats.org/officeDocument/2006/relationships/slide" Target="/ppt/slides/slide4.xml" Id="R7f4bf967d7b54418" /><Relationship Type="http://schemas.openxmlformats.org/officeDocument/2006/relationships/slide" Target="/ppt/slides/slide5.xml" Id="R93b2403f64aa46ba" /><Relationship Type="http://schemas.openxmlformats.org/officeDocument/2006/relationships/slide" Target="/ppt/slides/slide6.xml" Id="R02c080a1c4ac4630" /><Relationship Type="http://schemas.openxmlformats.org/officeDocument/2006/relationships/slide" Target="/ppt/slides/slide7.xml" Id="Rf91492eef7374790" /><Relationship Type="http://schemas.openxmlformats.org/officeDocument/2006/relationships/slide" Target="/ppt/slides/slide8.xml" Id="Ra6d86948eaa54e5d" /><Relationship Type="http://schemas.openxmlformats.org/officeDocument/2006/relationships/slide" Target="/ppt/slides/slide9.xml" Id="R0b392887b0d84e40" /><Relationship Type="http://schemas.openxmlformats.org/officeDocument/2006/relationships/slide" Target="/ppt/slides/slide10.xml" Id="R46ac819be21b4f85" /><Relationship Type="http://schemas.openxmlformats.org/officeDocument/2006/relationships/slide" Target="/ppt/slides/slide11.xml" Id="R2d8028005e77409d" /><Relationship Type="http://schemas.openxmlformats.org/officeDocument/2006/relationships/slide" Target="/ppt/slides/slide12.xml" Id="Rf219cf6f68a347a0" /><Relationship Type="http://schemas.openxmlformats.org/officeDocument/2006/relationships/slide" Target="/ppt/slides/slide13.xml" Id="R37bed5d3d9994dd3" /><Relationship Type="http://schemas.openxmlformats.org/officeDocument/2006/relationships/slide" Target="/ppt/slides/slide14.xml" Id="R15e3d958f8be40c8" /><Relationship Type="http://schemas.openxmlformats.org/officeDocument/2006/relationships/slide" Target="/ppt/slides/slide15.xml" Id="Rfde2dd45ea3b4d74" /><Relationship Type="http://schemas.openxmlformats.org/officeDocument/2006/relationships/slide" Target="/ppt/slides/slide16.xml" Id="R6b12fb3b4a3649de" /><Relationship Type="http://schemas.openxmlformats.org/officeDocument/2006/relationships/slide" Target="/ppt/slides/slide17.xml" Id="R200e6a47f28d4d65" /><Relationship Type="http://schemas.openxmlformats.org/officeDocument/2006/relationships/slide" Target="/ppt/slides/slide18.xml" Id="R7237b1c619914c2b" /><Relationship Type="http://schemas.openxmlformats.org/officeDocument/2006/relationships/slide" Target="/ppt/slides/slide19.xml" Id="R20d09d72a5f147bf" /><Relationship Type="http://schemas.openxmlformats.org/officeDocument/2006/relationships/slide" Target="/ppt/slides/slide20.xml" Id="R459b07909a534faf" /><Relationship Type="http://schemas.openxmlformats.org/officeDocument/2006/relationships/slide" Target="/ppt/slides/slide21.xml" Id="R11d8400078454e61" /><Relationship Type="http://schemas.openxmlformats.org/officeDocument/2006/relationships/slide" Target="/ppt/slides/slide22.xml" Id="R077894d8f6644d83" /><Relationship Type="http://schemas.openxmlformats.org/officeDocument/2006/relationships/slide" Target="/ppt/slides/slide23.xml" Id="R8734fe78da9d4b10" /><Relationship Type="http://schemas.openxmlformats.org/officeDocument/2006/relationships/slide" Target="/ppt/slides/slide24.xml" Id="Rfb1bd18611d14bd2" /><Relationship Type="http://schemas.openxmlformats.org/officeDocument/2006/relationships/slide" Target="/ppt/slides/slide25.xml" Id="Rd8ad0e017889449f" /><Relationship Type="http://schemas.openxmlformats.org/officeDocument/2006/relationships/slide" Target="/ppt/slides/slide26.xml" Id="R76c60d86c91449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b2a8eb8b1e40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261d37e80e44e6" /><Relationship Type="http://schemas.openxmlformats.org/officeDocument/2006/relationships/notesMaster" Target="/ppt/notesMasters/notesMaster1.xml" Id="R23508ea1398a493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88ee913314046d1" /><Relationship Type="http://schemas.openxmlformats.org/officeDocument/2006/relationships/notesMaster" Target="/ppt/notesMasters/notesMaster1.xml" Id="R1e84ad63220e42d0"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e7a35c738e404d" /><Relationship Type="http://schemas.openxmlformats.org/officeDocument/2006/relationships/notesMaster" Target="/ppt/notesMasters/notesMaster1.xml" Id="Rd57763e9abc644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4630af2cd54756" /><Relationship Type="http://schemas.openxmlformats.org/officeDocument/2006/relationships/notesMaster" Target="/ppt/notesMasters/notesMaster1.xml" Id="Rc300a467b26348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3a99b5bda84853" /><Relationship Type="http://schemas.openxmlformats.org/officeDocument/2006/relationships/notesMaster" Target="/ppt/notesMasters/notesMaster1.xml" Id="R1ddbd905e79b4f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6d01c3eb87427f" /><Relationship Type="http://schemas.openxmlformats.org/officeDocument/2006/relationships/notesMaster" Target="/ppt/notesMasters/notesMaster1.xml" Id="Re6a94b7bb5c648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5dfada84424efc" /><Relationship Type="http://schemas.openxmlformats.org/officeDocument/2006/relationships/notesMaster" Target="/ppt/notesMasters/notesMaster1.xml" Id="R151521702c8543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95ced88faef471b" /><Relationship Type="http://schemas.openxmlformats.org/officeDocument/2006/relationships/notesMaster" Target="/ppt/notesMasters/notesMaster1.xml" Id="Rccb0b31dcb0b40aa" /></Relationships>
</file>

<file path=ppt/notesSlides/_rels/notesSlide9.xml.rels>&#65279;<?xml version="1.0" encoding="utf-8"?><Relationships xmlns="http://schemas.openxmlformats.org/package/2006/relationships"><Relationship Type="http://schemas.openxmlformats.org/officeDocument/2006/relationships/slide" Target="/ppt/slides/slide9.xml" Id="Rb6747c5fad124240" /><Relationship Type="http://schemas.openxmlformats.org/officeDocument/2006/relationships/notesMaster" Target="/ppt/notesMasters/notesMaster1.xml" Id="R7846dc86d2bc49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2af00fa8384a36" /><Relationship Type="http://schemas.openxmlformats.org/officeDocument/2006/relationships/notesMaster" Target="/ppt/notesMasters/notesMaster1.xml" Id="Rbe06316f335244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8bd69b48f994ed7" /><Relationship Type="http://schemas.openxmlformats.org/officeDocument/2006/relationships/notesMaster" Target="/ppt/notesMasters/notesMaster1.xml" Id="R4a21469eacd54c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b0c732c68bb4289" /><Relationship Type="http://schemas.openxmlformats.org/officeDocument/2006/relationships/notesMaster" Target="/ppt/notesMasters/notesMaster1.xml" Id="Rd8bae699cb9c4f3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c953d5a2d9451d" /><Relationship Type="http://schemas.openxmlformats.org/officeDocument/2006/relationships/notesMaster" Target="/ppt/notesMasters/notesMaster1.xml" Id="Rb0e3de9c857842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d3285a083d64c40" /><Relationship Type="http://schemas.openxmlformats.org/officeDocument/2006/relationships/notesMaster" Target="/ppt/notesMasters/notesMaster1.xml" Id="R19e3a2420bd14e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e913deb9c64891" /><Relationship Type="http://schemas.openxmlformats.org/officeDocument/2006/relationships/notesMaster" Target="/ppt/notesMasters/notesMaster1.xml" Id="R381e38332d78460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bd9be406def4b8d" /><Relationship Type="http://schemas.openxmlformats.org/officeDocument/2006/relationships/notesMaster" Target="/ppt/notesMasters/notesMaster1.xml" Id="R8d78433a1169434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c22abc0121c4bc1" /><Relationship Type="http://schemas.openxmlformats.org/officeDocument/2006/relationships/notesMaster" Target="/ppt/notesMasters/notesMaster1.xml" Id="R28f7819dd7cf48d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e004b3b3df4a4f" /><Relationship Type="http://schemas.openxmlformats.org/officeDocument/2006/relationships/notesMaster" Target="/ppt/notesMasters/notesMaster1.xml" Id="Ree2fc6c34ca746d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ef1f5ed48c544dd" /><Relationship Type="http://schemas.openxmlformats.org/officeDocument/2006/relationships/notesMaster" Target="/ppt/notesMasters/notesMaster1.xml" Id="R3563f53b4aa14b3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343501476548dd" /><Relationship Type="http://schemas.openxmlformats.org/officeDocument/2006/relationships/notesMaster" Target="/ppt/notesMasters/notesMaster1.xml" Id="R865e9ef0843740f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3f3cc5246b94aca" /><Relationship Type="http://schemas.openxmlformats.org/officeDocument/2006/relationships/notesMaster" Target="/ppt/notesMasters/notesMaster1.xml" Id="R4f5b96a319134e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10b84a9cbd54c92" /><Relationship Type="http://schemas.openxmlformats.org/officeDocument/2006/relationships/notesMaster" Target="/ppt/notesMasters/notesMaster1.xml" Id="R633314784ba44c2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5fdec30496247b8" /><Relationship Type="http://schemas.openxmlformats.org/officeDocument/2006/relationships/notesMaster" Target="/ppt/notesMasters/notesMaster1.xml" Id="R71aabdb83a4441c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47ce06d1f5402c" /><Relationship Type="http://schemas.openxmlformats.org/officeDocument/2006/relationships/notesMaster" Target="/ppt/notesMasters/notesMaster1.xml" Id="R6028f50c65394f2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c3cad3820e64f38" /><Relationship Type="http://schemas.openxmlformats.org/officeDocument/2006/relationships/notesMaster" Target="/ppt/notesMasters/notesMaster1.xml" Id="R6015e637ffb9435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f2f4e02e081463f" /><Relationship Type="http://schemas.openxmlformats.org/officeDocument/2006/relationships/notesMaster" Target="/ppt/notesMasters/notesMaster1.xml" Id="R0eb128354cc746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CS6620 Cloud Computing. Consolidated working proposal following professor feedback. Preserve the original 960 x 540 slide format, white background, orange Rockwell headings and Arial body text. This document is a proposed shared implementation reference, not evidence that teammates have agreed to assignments or that the lab supports every service. All cloud resources must run in the course Learner Lab. No AWS resources are created by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Retain the security gate use case while separating product scope from reliability requirements. Only SAST is in the implementation baseline. The backend extends the provided scanner.js and Express code rather than replacing it. Target users are developers and PR reviewers. Minimal frontend is a public landing/status-information page, GitHub summaries and expiring S3 report links. WAF, Cognito, Kubernetes and a custom browser login are outside baseline scope. Same-repository trusted PRs only. Fork PRs do not receive secrets and do not satisfy the gate. Basic exact reviewed exception entries remain configuration, not a new UI.</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Single baseline: internet-facing IPv4 Application Load Balancer across two public subnets in different AZs. One Auto Scaling Group has min=2, desired=2, max=2 with one private EC2 node per AZ as the intended distribution. Each identical node hosts a nonprivileged Express API process and a separate local worker supervisor. This is two logical components in one repository, replicated across two hosts, not four EC2 instances. Only the supervisor has access to a fixed-function local container launcher. API handlers cannot start arbitrary containers or access the Docker socket. Shared SQS, DynamoDB and S3 eliminate reliance on node-local scan state. API enqueues, supervisors poll SQS and launch network-disabled scan containers. ECR supplies fixed digest-pinned images, Parameter Store supplies verifier hashes, CloudWatch supplies logs/metrics/alarms and optional SNS alerts. Terraform state is separate from application storage. This topology supersedes every prior public-EC2 and single-host diagram.</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https://docs.aws.amazon.com/elasticloadbalancing/latest/application/load-balancer-update-security-groups.html</a:t>
            </a:r>
          </a:p>
          <a:p xmlns:a="http://schemas.openxmlformats.org/drawingml/2006/main">
            <a:r>
              <a:t>https://docs.aws.amazon.com/autoscaling/ec2/userguide/scaling-overview.html</a:t>
            </a:r>
          </a:p>
          <a:p xmlns:a="http://schemas.openxmlformats.org/drawingml/2006/main">
            <a:r>
              <a:t>https://docs.aws.amazon.com/AWSSimpleQueueService/latest/SQSDeveloperGuide/standard-queues-at-least-once-delivery.html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POST /scan-jobs replaces synchronous POST /scan/project. Validate the repository-scoped service token before reading/processing the bounded body. Scan the eligible JavaScript snapshot at the exact PR head SHA, excluding dependencies and build output using a trusted versioned configuration. Put the encrypted source manifest in an input bucket and create a DynamoDB job with an enqueue-outbox flag. Send only the job ID/input key/version metadata to SQS. Return 202 with jobId/statusUrl after SQS accepts the message. A repeated identical request returns the same job ID rather than re-scanning accidentally. A local dispatcher retries unfinished outbox sends after a node/API crash. Worker atomically claims a lease, retrieves source and starts the fixed scanner image. The worker container has neither network nor AWS credentials. Supervisor captures bounded JSON, applies trusted policy, redacts evidence, writes an immutable attempt report, conditionally commits the winning report pointer in DynamoDB and then deletes the SQS message. Workflow polls GET /scan-jobs/{id}; only a terminal complete result bound to the requested SHA can pass. Report link retrieval is a separate authenticated operation.</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https://docs.aws.amazon.com/AWSSimpleQueueService/latest/SQSDeveloperGuide/standard-queues-at-least-once-delivery.html</a:t>
            </a:r>
          </a:p>
          <a:p xmlns:a="http://schemas.openxmlformats.org/drawingml/2006/main">
            <a:r>
              <a:t>https://docs.aws.amazon.com/AmazonS3/latest/userguide/using-presigned-url.html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AWS choice justification: ALB provides one stable endpoint and managed health routing. EC2 permits visible host-level Docker resource controls without requiring Kubernetes or Docker-in-Docker. ASG replaces unhealthy instances. SQS decouples incoming API traffic from bounded scan capacity. DynamoDB supports atomic claims and shared state across hosts. S3 stores larger source/report objects and supports lifecycle rules. RDS, MongoDB Atlas and EFS are unnecessary because no relational joins/shared mutable filesystem are required. Lambda/API Gateway are not baseline dependencies. Dynamic autoscaling is optional; fixed desired capacity 2 already addresses single-node failure. An EC2 node replacement is not instantaneous and two nodes do not guarantee uninterrupted service during all failures.</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https://docs.aws.amazon.com/autoscaling/ec2/userguide/scaling-overview.html</a:t>
            </a:r>
          </a:p>
          <a:p xmlns:a="http://schemas.openxmlformats.org/drawingml/2006/main">
            <a:r>
              <a:t>https://docs.aws.amazon.com/AWSSimpleQueueService/latest/SQSDeveloperGuide/standard-queues-at-least-once-delivery.html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planned acceptance targets, not recorded performance. Input limit: at most 50 eligible JavaScript files, 1 MiB aggregate UTF-8 source, and 2 MiB JSON envelope. The 5-second acknowledgement target assumes healthy AWS services; client request timeout is 10 seconds. Container runtime cap is 10 seconds; supervisor whole-attempt cap 30 seconds covers source download/startup/report persistence. Queue wait and replacement delay are excluded from that 30 seconds, and included in the workflow five-minute total polling window. Do not claim a fixed recovery SLA before running the failure test. A GitHub job timeout of ten minutes leaves room for checkout/submission/polling and summary cleanup.</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Input storage is a deliberate architecture change, required because another host may recover queued work. It is encrypted and access-controlled, not a public artifact archive. Explicit source deletion occurs after terminal result persistence; failed cleanup is retried and lifecycle is a backup. S3 lifecycle does not guarantee deletion exactly 24 hours after upload. Input bucket versioning stays off to avoid retaining deleted source versions. Reports use versioning, current expiry 30 days, noncurrent expiry 7 days, and expired-delete-marker cleanup. DynamoDB expiresAt is enforced by the application after 30 days; TTL cleanup is asynchronous and not a precise access-control boundary. Keys use validated server-derived repository ID/job ID and content hash. No reports, state or source buckets are publicly readable. Reports are redacted before leaving the control boundary. State bucket never shares the report lifecycle or signed-download path.</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VPC, two public and two private subnets across AZ-A and AZ-B. Public subnet route tables use an Internet Gateway. Each private subnet default route uses a NAT Gateway in its own AZ, preventing a single shared NAT from breaking both outbound paths. This costs more than a single NAT and is part of the preflight budget check. The ALB spans the public subnets; EC2 nodes have no public IP. S3 and DynamoDB gateway endpoints route those service requests without NAT. ECR, Systems Manager, CloudWatch and other outbound HTTPS use the same-AZ NAT initially. A private subnet is not complete without explaining service egress. No public worker service or Docker API. Use a lab-supported instance role and Session Manager for management, with no inbound SSH. This remains subject to lab service permissions and quotas; if unavailable the team must revise the design explicitly before deployment, rather than silently using a single public EC2 fallback.</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https://docs.aws.amazon.com/elasticloadbalancing/latest/application/load-balancer-update-security-groups.html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question about 443 moves from EC2 to the ALB. GitHub-hosted runner IP ranges are too wide/changeable to use as a fixed allowlist here. We deliberately accept IPv4 HTTPS on the ALB from 0.0.0.0/0. Do not enable IPv6 unless corresponding rules are explicitly designed. EC2 has no public IP, no 443 listener and no inbound 22. Its SG accepts TCP 3000 only from the ALB SG for API and health checks. HTTP between ALB and API is private VPC traffic, while TLS terminates at ALB; end-to-end TLS is a future hardening option. Security groups are stateful. Default network ACLs remain unchanged. The public API authenticates a high-entropy repo-scoped bearer token before allocating scan work. Missing/invalid token returns 401. Compare token digests in constant time. Source repo, paths and body limits are validated server-side. /health contains no secrets; /ready checks configuration and readiness without starting a scan. The API has no Docker group/socket access. Per-node authenticated limits start at 5 requests/second with burst 10; with two nodes that is not a global quota. WAF/global rate limiting is nice-to-have, so explicitly accept that network-level DDoS protection and a stolen-token attack are not solved by a security group.</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https://docs.aws.amazon.com/elasticloadbalancing/latest/application/load-balancer-update-security-groups.html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health-check grace and warmup values measured during boot. Suggested starting target health checks every 15 seconds with two consecutive failures, to validate in testing. Readiness must not be blocked by the worker being busy. Worker heartbeat is separate from API health. /ready should fail if the node cannot load authentication/configuration or basic AWS credentials, but avoid all nodes flapping because one downstream dependency has a brief outage. Do not promise zero-downtime deployment: keeping one healthy node during refresh is a test objective. A worker death leaves an unacknowledged SQS message, which can reappear after the visibility timeout. The surviving worker takes it only after its shared lease expires. ASG node replacement is not a substitute for idempotency. A coordinated Learner Lab shutdown affects both AZs and cannot be fixed by adding nodes.</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https://docs.aws.amazon.com/autoscaling/ec2/userguide/scaling-overview.html</a:t>
            </a:r>
          </a:p>
          <a:p xmlns:a="http://schemas.openxmlformats.org/drawingml/2006/main">
            <a:r>
              <a:t>https://docs.aws.amazon.com/AWSSimpleQueueService/latest/SQSDeveloperGuide/sqs-visibility-timeout.html</a:t>
            </a:r>
          </a:p>
          <a:p xmlns:a="http://schemas.openxmlformats.org/drawingml/2006/main">
            <a:r>
              <a:t>Implementation detail: With maximum capacity fixed at two, test an instance-refresh policy that retains at least one healthy node (for example min healthy 50%, max healthy 100%). Do not copy defaults that require unavailable surge capacity. ALB health routing and SQS recovery still need explicit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preserves basic usability without building a new exceptions product. Review policy changes separately through protected repository review. Deploy trusted policy with a known version/image configuration; do not accept a caller-supplied policy file or rule regex. The API/worker applies the approved policy after the sandbox returns findings, before redaction/persistence. Suppression provenance is the reviewed policy commit/PR and approver record, not a name submitted by the scanning PR. Changing the flagged content invalidates its narrow fingerprint. Deliberately vulnerable test fixtures used by our acceptance harness are not silently exempted from test scans.</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cloud resources must remain inside Learner Lab. We have not inspected its actual permissions. Role creation and custom IAM policies may be restricted, so Terraform references the existing lab-approved instance profile where needed. Referencing an existing broad LabRole does not demonstrate enforced least privilege; document the residual scope rather than claiming custom permissions exist. ACM requires validated DNS ownership. Do not use an IP-based EC2 hostname fallback for an ALB certificate. Route 53 is optional only when DNS is hosted elsewhere under team control; any outside-DNS validation step is documented. Existing EC2 auto-assigned public IP changes no longer affect SCANNER_BASE_URL because clients use the ALB DNS/custom domain. Lab shutdown can still remove availability. Do not promise unattended restart of a closed lab session.</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a:p xmlns:a="http://schemas.openxmlformats.org/drawingml/2006/main">
            <a:r>
              <a:t>Updated ownership: Aditya owns all initial lab feasibility, quotas, roles, budget, certificate, repository, infrastructure and Terraform setup. Arvind and Chengyuan begin their main implementation after the foundation handoff. Arvind is not a prerequisite owner for initial setup.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reliability-versus-cost decision, not a cost estimate. Review lab budget daily and before any long-running demo period. If budget cannot support the two-node/two-NAT design, record a narrower availability commitment and revise the topology together; do not falsely claim HA with one host or one required NAT. ASG needs its desired capacity deliberately reduced for planned shutdown, otherwise it may replace stopped/unhealthy instances. ALB/NAT/IPv4/storage can keep incurring charges independent of EC2 state. Teardown application resources through Terraform after reviewing the plan, with report retention and state protection chosen explicitly. A running service is available during active supported lab sessions only.</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split following Aditya’s request to own all setup and feasibility. Aditya Chatterjee performs Learner Lab permissions/quotas/roles/budget checks, settles HTTPS and network feasibility, creates the repository/development setup, writes shared schemas, bootstraps and maintains Terraform/remote state and AWS infrastructure, builds the API/authentication/job storage/report endpoints, and proves the submission-to-result path with a dummy worker. His handoff includes a runnable baseline, sample inputs/results, agreed contracts, test commands, deployment configuration, and access instructions through approved secret channels. No teammate is a setup prerequisite. Arvind Dharmesh Parekh owns the GitHub scanning client/workflow, file collection, exact-SHA check binding, polling/retries, per-PR cancellation, report summaries, required branch check, end-to-end test automation and workflow documentation. He develops against the existing API and dummy worker without waiting for the real scanner. Chengyuan Sun owns the real SAST worker, fixed image, sandbox resource limits, queue/lease processing, duplicate handling, redaction/result contract, failure cleanup and worker tests/troubleshooting guide. She develops against example jobs and the queue/API contracts without waiting for Arvind’s GitHub integration. Aditya owns API validation/auth and source/job persistence; Chengyuan owns worker processing transitions and output sanitization; shared job schema changes require joint review. Arvind owns client interpretation of completed versus infrastructure-failure results. Aditya leads deployment/integration, each teammate fixes her or his component, and all three run the final demo and shared failure tests. This deliberately gives Aditya a substantially heavier setup/integration workload, not an equal three-way split. It changes ownership and sequence only, not product scope or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check context is sast-gate. Valid completed results have outcome PASS or FAIL. Operational failures have state ERROR/TIMED_OUT and make the GitHub check fail with a different explanation from a security finding. Polling status does not expose private reports unauthenticated. Token-to-repository mapping controls both job submission and read access. Report ID is not an access credential. Presigned links are bearer grants and may expire sooner if signer credentials expire. Do not put raw code/secret evidence into reports. The minimal landing page documents service purpose, health information and use; it does not implement a multiuser dashboard. GitHub summaries include job ID, SHA, versions, scanned file count, suppressed/active counts and terminal outcome.</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https://docs.aws.amazon.com/AmazonS3/latest/userguide/using-presigned-url.html</a:t>
            </a:r>
          </a:p>
          <a:p xmlns:a="http://schemas.openxmlformats.org/drawingml/2006/main">
            <a:r>
              <a:t>Scope lock: Queued/running/error states appear in the existing GitHub logs and summary, not a new dashboard or user interface. Polling is client implementation detail.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keeps the prior sandbox design while defining who can start it. Each node runs Express as a nonprivileged process/container with no Docker group or socket. A separate worker supervisor polls SQS. Its fixed-function launcher accepts only the approved scanner image digest, bounded text input, and predefined limits; callers cannot supply images, shell commands or host mounts. Supervisor IAM credentials stay outside the sandbox. Source goes through bounded stdin; JSON results come through bounded stdout. Initial settings: one active container/node, --cpus=0.5, --memory=256m with --memory-swap=256m, PIDs 64, read-only root, non-root UID, network none, cap-drop ALL, no-new-privileges and capped temporary storage. Whole supervisor attempt budget is 30 seconds; container wall-clock cap is 10 seconds enforced outside the worker and must kill/remove the actual container. Limit output to 1 MiB. These need benchmark validation with host CPU/RAM reserve. Docker shares the host kernel and is not a VM boundary. Pentest stays out of scope and would require a separate approved-target network profile because the tester sends requests to an already-running target.</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https://docs.docker.com/engine/containers/resource_constraints/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Exactly twenty core scenarios are specified across this and the next slide. Each scenario can contain a small set of subcases, such as timeout and memory fault. These are expected outcomes, not test results. Use controlled worker test images for hangs and resource stress; never execute submitted PR code. Input limits are 50 eligible files, 1 MiB source, 2 MiB envelope. No-JS is valid only when the full eligible file selection succeeds. Invalid file selection and incomplete scans cannot pass. Route auth and repository checks apply before queuing or signing report links.</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Cases 11-20 cover professor feedback. Test actual API failover by removing one node, not just restarting a container. Test worker loss by killing the host before acknowledgement and observing later processing on the survivor. Do not assert exactly-once execution; duplicates may run after a failure but only one lease-fenced terminal pointer can win. Run burst tests after idempotency/shared-state support and before adding host 2. A rapid repush cancels older workflow execution, but an already queued old scan may still consume its bounded resources. It cannot satisfy a different SHA. State-lock test uses the same remote backend/key with two operators and verifies the second waits/fails cleanly.</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Aditya publishes this contract first. Header Authorization: Bearer TOKEN. Token maps to allowed repository ID; never authorize using the submitted repo field alone. X-Idempotency-Key is a hash of repository ID + exact commit SHA + scanner/policy version + ordered content digest. Validate filenames, count, UTF-8 aggregate and envelope limits. POST body: repoId, prNumber, commitSha, scannerVersion, policyVersion and files [{path,content}]. Return jobId, status, statusUrl and commitSha. A reused key with different content returns 409. A known matching queued/running/completed request returns the original job, without resetting a terminal state. Status response: jobId, commitSha, state, outcome, fileCount, counts, timestamps, errorCode, reportAvailable; no source, token, worker private paths or raw evidence. A 202 is not a pass. Terminal COMPLETE has outcome PASS/FAIL only after successful persistence. Error response codes distinguish retryable service failures from invalid input. /health is minimal and /ready is a cheap API-readiness check, not a scan.</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https://docs.aws.amazon.com/AmazonS3/latest/userguide/using-presigned-url.html</a:t>
            </a:r>
          </a:p>
          <a:p xmlns:a="http://schemas.openxmlformats.org/drawingml/2006/main">
            <a:r>
              <a:t>Reject scannerVersion or policyVersion values that are not the current approved server release. Never treat the caller as authorized to choose a container image or policy. Derive and compare the content digest server-side.</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DynamoDB keys: PK JOB#jobId plus repository/PR lookup index, dispatch status index, contentDigest, versions, state, outcome, attemptId, leaseOwner, leaseUntil, reportKey, timestamps and expiresAt. The outbox flag closes the DDB/SQS dual-write gap: a node-local dispatcher on either host retries PENDING sends, using an atomic short dispatch lease. It must not overwrite RUNNING/terminal states when marking enqueue complete. A crash after SQS send but before the flag update can cause another message, which is safe through idempotency. Workers claim queued jobs or expired RUNNING leases conditionally. Renew SQS visibility and DDB lease around every 20 seconds when needed; the normal whole attempt budget is 30 seconds. Lease ID/attempt version fences stale writers. Store reports under immutable per-attempt S3 keys and commit the winning pointer conditionally, so an old worker cannot overwrite a later successful result. Duplicate terminal messages are acknowledged without repeating the scan. Source deletion follows terminal commit. For transient infra errors, release without acknowledgement and allow at most three deliveries before DLQ; controlled scanner timeout/invalid input is terminal and not retried indefinitely. A reconciliation pass marks stale/DLQ jobs as ERROR and exposes the reason. SQS visibility is not itself an exactly-once lock.</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https://docs.aws.amazon.com/AWSSimpleQueueService/latest/SQSDeveloperGuide/standard-queues-at-least-once-delivery.html</a:t>
            </a:r>
          </a:p>
          <a:p xmlns:a="http://schemas.openxmlformats.org/drawingml/2006/main">
            <a:r>
              <a:t>https://docs.aws.amazon.com/AWSSimpleQueueService/latest/SQSDeveloperGuide/sqs-visibility-timeout.html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replaces the old ambiguous one-worker 429 busy loop. Normal admitted work queues and returns 202 regardless of whether both workers are occupied. 429 is reserved for API rate/quota protection, not worker availability. Per HTTP operation: initial request plus at most 3 retries at 2, 5 and 10 seconds with up to one second jitter. Honor Retry-After when present up to 30 seconds, but never exceed a 60-second submission budget or the overall polling deadline. Retry only 429, 502, 503, 504 and transport timeouts, with the same idempotency key. Do not retry 400, 401, 403, 409 or 413. Each request timeout is 10 seconds. Poll every 5 seconds for at most 5 minutes from the first 202, including transient poll delays, and display state/job ID in logs and job summary. GitHub overall job timeout ten minutes. Concurrency group is sast-&lt;repository&gt;-&lt;PR-number&gt; with cancel-in-progress true, not a repository-global group that cancels unrelated PRs. Set the required check on the exact scanned head SHA. New pushes cancel older workflow runs. Already queued jobs may finish, but never satisfy another commit. Worker-side superseded-job skipping is optional and cannot replace SHA binding. Perform a six-distinct-PR burst and rapid same-PR repush test with one host before enabling the second. Terminal operational errors produce a failed required job labelled Infrastructure error and a rerun instruction.</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https://docs.github.com/en/actions/how-tos/write-workflows/choose-when-workflows-run/control-workflow-concurrency</a:t>
            </a:r>
          </a:p>
          <a:p xmlns:a="http://schemas.openxmlformats.org/drawingml/2006/main">
            <a:r>
              <a:t>Unsupported fork submissions must fail the required sentinel job explicitly rather than skip it, because a skipped GitHub job can count as successful. Scan workflow must never execute PR-controlled installation/build commands with the service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cryptographically random 256-bit token and server-side SHA-256 digest comparison in constant time, with version/key identifiers for audit. The SecureString value is a JSON verifier configuration containing current/previous hash, key IDs, allowed repo ID and grace deadline, not the raw bearer. Instance profile permits retrieval/decryption where lab policy allows. Tokens and their hashes are never placed in the scanner container. API cache is at most 60 seconds; fail startup readiness if there is no valid config, and define a short stale-cache maximum (five minutes) during SSM outages rather than silently trusting old tokens forever. Grace deadlines are enforced locally so a stale cache cannot accept the old key indefinitely. For planned rotation, publish new verifier first, wait/probe both nodes, then update GitHub, observe new-key use during a ten-minute overlap, remove old and test rejection after refresh. Emergency rotation skips overlap and accepts temporary workflow failure. Store live values out of Terraform entirely: Terraform manages the parameter name/access/reference and bootstrap procedure but the operator writes actual verifier configuration through an audited out-of-band command. Do not place hashes/raw tokens in Terraform outputs or saved plans. /health never reveals them. Logs record key ID/job ID only. App/service token is distinct from temporary AWS role credentials, which the SDK obtains from the instance profile.</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https://docs.aws.amazon.com/systems-manager/latest/userguide/systems-manager-parameter-store.html</a:t>
            </a:r>
          </a:p>
          <a:p xmlns:a="http://schemas.openxmlformats.org/drawingml/2006/main">
            <a:r>
              <a:t>For emergency revocation, invalidate caches or restart/reload both API processes, then probe old-token rejection on both. Do not assume updating Parameter Store instantly changes cached verifiers.</a:t>
            </a:r>
          </a:p>
          <a:p xmlns:a="http://schemas.openxmlformats.org/drawingml/2006/main">
            <a:r>
              <a:t>Ownership update: Aditya handles Parameter Store, token generation/rotation, secret provisioning and the runbook. Arvind wires the GitHub client to the agreed secret and verifies its behavior. Share access through the agreed secure channel, never as a credential value in the handoff 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may contain sensitive infrastructure details, even if Terraform marks outputs sensitive, so all backend access is controlled. The AWS provider and backend use short-lived lab credentials from the environment, not hardcoded keys. Pin a tested Terraform version supporting S3 lockfiles and a tested AWS provider in required_providers, committing .terraform.lock.hcl. Lock object is cs6620/dev/terraform.tfstate.tflock. Backend principals need the documented get/put state and lock get/put/delete permissions, scoped to the intended bucket/key where lab policy permits. Native S3 lockfiles remove the need for a separate DynamoDB state-lock table; application DynamoDB remains unrelated job storage. Set state bucket versioning, encryption, public access block and prevent_destroy. Use separate backend keys for bootstrap and application. Reference existing LabRole/instance profile instead of attempting prohibited IAM creation. Do not pretend sensitive=true prevents state storage. Actual bearer/hash verifier values stay outside Terraform and its data sources. Avoid terraform-managed SecureString values unless the team knowingly accepts their state exposure; baseline does not.</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https://developer.hashicorp.com/terraform/language/backend/s3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Bootstrap step: Aditya runs a small dedicated Terraform bootstrap configuration with temporary local state in a protected non-Git directory to create the backend bucket. Enable versioning/encryption/public block and prevent_destroy. Then migrate bootstrap state with terraform init -migrate-state to its own bootstrap key, and verify before removing local copies. Configure the application backend with the separate dev key. If lab permissions prevent bootstrap creation/locking access, stop and resolve before parallel applies. Suggested repository structure: api/ for Express routes and auth; worker/ for supervisor, queue client and fixed launcher; scanner/ wrapping the supplied SAST logic; shared/ for schemas; infra/bootstrap and infra/app for Terraform; .github/workflows for gate, link refresh and controlled deployment. Keep docs/runbooks with setup, rotation, failover and teardown steps. Plan: Terraform fmt/validate, reviewed plan, one authorized apply from a trusted admin context during active lab. PRs never obtain deployment credentials. ECR build/push and launch-template rollout use an explicit approved release. A new image digest/configuration changes job version identities. Publish outputs SCANNER_BASE_URL, input/report buckets, queue URL, jobs table and instance profile identifiers without secrets. Store API URL as a GitHub variable, token as a secret. Infrastructure automation is separate from the untrusted scan workflow.</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The foundation gate is a demonstrated dummy job round trip, locally and on the agreed AWS baseline. It is setup validation, not an additional product feature. Aditya owns bootstrap, repository layout, shared schemas, API, Terraform and baseline deployment. Arvind receives a ready API/dummy worker for workflow development. Chengyuan receives example jobs and a working environment for worker development. Both start independently after that handoff. Arvind writes the scan/link workflow and end-to-end test automation. Chengyuan writes the worker/sandbox and worker test suite. Aditya retains deployment/release automation and integrates both. Integration smoke tests occur when components are ready; do not postpone every connection test to the final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Sequence replaces the earlier distributed-startup ownership. Gate A: Aditya completes feasibility, repository, initial development setup and Terraform state. Gate B: Aditya builds the initial AWS infrastructure and API using the agreed schemas plus a dummy worker, demonstrating submit, status, sample report and auth/input validation. He supplies reproducible startup instructions, sample jobs/results and configuration references. Only then Gate C starts the two independent contribution paths: Arvind builds GitHub workflow/required-check behavior and end-to-end tests against the dummy worker; Chengyuan builds the real scanner worker/sandbox and worker tests against sample jobs. Aditya continues API hardening and documentation and leads integration when their components are ready. Gate D connects the real worker and GitHub client, with each owner fixing her or his component. Gate E covers the existing 20-case suite, operational drills and the unchanged vulnerable-PR/fixed-PR/report/fail-closed demo. No initial feasibility or infrastructure work is assigned to Arvind. This allocation intentionally puts more work on Aditya. Team review confirms assignments and dates. No project goals, architecture or required final product features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is a review index for teammates, not a claim of professor approval or deployed success. Design decisions have been selected consistently across the document. Remaining gates are account capabilities, budget, certificate/domain control, exact roles/permissions, measured limits and team acceptance of suggested ownership. No multiple competing architectures are presented as simultaneously agreed. No manual clicks are assumed to be the main deployment strategy. Runtime source staging is acknowledged as a privacy tradeoff; signed report downloads remain separate from state access.</a:t>
            </a:r>
          </a:p>
          <a:p xmlns:a="http://schemas.openxmlformats.org/drawingml/2006/main">
            <a:r>
              <a:t/>
            </a:r>
          </a:p>
          <a:p xmlns:a="http://schemas.openxmlformats.org/drawingml/2006/main">
            <a:r>
              <a:t>Working design for team kickoff, revised October 24, 2026. Proposed ownership and numeric targets need team confirmation and lab validation. This describes work to implement, not a deployed or benchmarked system.</a:t>
            </a:r>
          </a:p>
          <a:p xmlns:a="http://schemas.openxmlformats.org/drawingml/2006/main">
            <a:r>
              <a:t>Sources:</a:t>
            </a:r>
          </a:p>
          <a:p xmlns:a="http://schemas.openxmlformats.org/drawingml/2006/main">
            <a:r>
              <a:t>https://github.com/aanchan/cs6620/blob/HEAD/README.md</a:t>
            </a:r>
          </a:p>
          <a:p xmlns:a="http://schemas.openxmlformats.org/drawingml/2006/main">
            <a:r>
              <a:t/>
            </a:r>
          </a:p>
          <a:p xmlns:a="http://schemas.openxmlformats.org/drawingml/2006/main">
            <a:r>
              <a:t>GOAL AND DEMO SCOPE LOCK: The original deliverable is a JavaScript SAST security gate for one team repository using the provided Node/Express scanner. The end demonstration remains vulnerable PR fails, corrected commit passes, redacted report can be opened, and incomplete scanning never passes. Private reports, expiring links, existing reviewed exceptions, and resource-limited containers remain. Professor-requested changes address deployment resilience, endpoint access, busy-scan behavior, token operations, team responsibilities and Terraform/state. ALB, ASG, SQS, DynamoDB, NAT topology, transient source staging and API status contracts are proposed implementation choices to meet that feedback, not features the professor explicitly mandated. Do not describe these choices as extra user-facing goals. Confirm lab feasibility/cost and source-retention policy with the team before build. Pentesting, additional languages, multi-tenancy, dashboards, chat integrations, dynamic scaling beyond two hosts, and scheduling are not required final-delivery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ca96aa10714e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b1354e46b04ea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cad7c91734c4d5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c26101e0dd42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6a12204708e44d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001997bc1f469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D19510B-84FE-4895-8EEB-551617B263A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A59452-9642-4EE5-A206-3D8DAE26766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F7DAB5A-B494-44A0-A7FE-435977E2872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58D947-8C1C-4DD0-80F7-442D726BD3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A7E549-2619-4997-97C8-DADDDDA047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AD60C00-DFAF-47B3-970C-34AC4AE2F2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19C6167-469E-4076-B0C7-2AD9995DD24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2FFFD3-E187-4F4B-B700-4637B40700D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98891-786A-4511-B24E-9741F123B22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C0E684-46DE-4FBF-8793-8027E752985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11f814993e449c" /><Relationship Type="http://schemas.openxmlformats.org/officeDocument/2006/relationships/slideLayout" Target="/ppt/slideLayouts/slideLayout1.xml" Id="R04cf120232fc4898" /><Relationship Type="http://schemas.openxmlformats.org/officeDocument/2006/relationships/slideLayout" Target="/ppt/slideLayouts/slideLayout2.xml" Id="R1bfc9546cb0c4c05" /><Relationship Type="http://schemas.openxmlformats.org/officeDocument/2006/relationships/slideLayout" Target="/ppt/slideLayouts/slideLayout3.xml" Id="Rc5cd44b6e0204ba4" /><Relationship Type="http://schemas.openxmlformats.org/officeDocument/2006/relationships/slideLayout" Target="/ppt/slideLayouts/slideLayout4.xml" Id="Rb8c65984cd7941a5" /><Relationship Type="http://schemas.openxmlformats.org/officeDocument/2006/relationships/slideLayout" Target="/ppt/slideLayouts/slideLayout5.xml" Id="R3e773472f0da4488" /><Relationship Type="http://schemas.openxmlformats.org/officeDocument/2006/relationships/slideLayout" Target="/ppt/slideLayouts/slideLayout6.xml" Id="R14e56eb4b4aa45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cf120232fc4898"/>
    <p:sldLayoutId xmlns:r="http://schemas.openxmlformats.org/officeDocument/2006/relationships" id="2147483650" r:id="R1bfc9546cb0c4c05"/>
    <p:sldLayoutId xmlns:r="http://schemas.openxmlformats.org/officeDocument/2006/relationships" id="2147483651" r:id="Rc5cd44b6e0204ba4"/>
    <p:sldLayoutId xmlns:r="http://schemas.openxmlformats.org/officeDocument/2006/relationships" id="2147483652" r:id="Rb8c65984cd7941a5"/>
    <p:sldLayoutId xmlns:r="http://schemas.openxmlformats.org/officeDocument/2006/relationships" id="2147483653" r:id="R3e773472f0da4488"/>
    <p:sldLayoutId xmlns:r="http://schemas.openxmlformats.org/officeDocument/2006/relationships" id="2147483654" r:id="R14e56eb4b4aa45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46c675308445ca" /><Relationship Type="http://schemas.openxmlformats.org/officeDocument/2006/relationships/notesSlide" Target="/ppt/notesSlides/notesSlide1.xml" Id="R6d9fca701c874f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8bbba383484923" /><Relationship Type="http://schemas.openxmlformats.org/officeDocument/2006/relationships/notesSlide" Target="/ppt/notesSlides/notesSlide2.xml" Id="Rb6353bad01a64c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db491b58ff745a5" /><Relationship Type="http://schemas.openxmlformats.org/officeDocument/2006/relationships/notesSlide" Target="/ppt/notesSlides/notesSlide3.xml" Id="R2dbd957b740144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6eff3aba3cf47fb" /><Relationship Type="http://schemas.openxmlformats.org/officeDocument/2006/relationships/notesSlide" Target="/ppt/notesSlides/notesSlide4.xml" Id="R58ab19911f8147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356b9aec17d4e9c" /><Relationship Type="http://schemas.openxmlformats.org/officeDocument/2006/relationships/notesSlide" Target="/ppt/notesSlides/notesSlide5.xml" Id="R4349fee275104ef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2ebb9bc4364439" /><Relationship Type="http://schemas.openxmlformats.org/officeDocument/2006/relationships/notesSlide" Target="/ppt/notesSlides/notesSlide6.xml" Id="R58907e7f8b1f48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cc45e452e9642b5" /><Relationship Type="http://schemas.openxmlformats.org/officeDocument/2006/relationships/notesSlide" Target="/ppt/notesSlides/notesSlide7.xml" Id="R1861c890905f48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084cc1fca9046e6" /><Relationship Type="http://schemas.openxmlformats.org/officeDocument/2006/relationships/notesSlide" Target="/ppt/notesSlides/notesSlide8.xml" Id="R376b2a70da4740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cc1261b2c624263" /><Relationship Type="http://schemas.openxmlformats.org/officeDocument/2006/relationships/notesSlide" Target="/ppt/notesSlides/notesSlide9.xml" Id="Re7d1734f9382493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a826cd5d0b455a" /><Relationship Type="http://schemas.openxmlformats.org/officeDocument/2006/relationships/notesSlide" Target="/ppt/notesSlides/notesSlide10.xml" Id="Rb314fce8f36e4d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93af70431b4e7d" /><Relationship Type="http://schemas.openxmlformats.org/officeDocument/2006/relationships/notesSlide" Target="/ppt/notesSlides/notesSlide11.xml" Id="R3ce4b8f1c3a843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6aab254c2424c7c" /><Relationship Type="http://schemas.openxmlformats.org/officeDocument/2006/relationships/notesSlide" Target="/ppt/notesSlides/notesSlide12.xml" Id="R6da0e1e913eb4421"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d506ab53def4b68" /><Relationship Type="http://schemas.openxmlformats.org/officeDocument/2006/relationships/notesSlide" Target="/ppt/notesSlides/notesSlide13.xml" Id="Rb798b6f2232a479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95a7e9ff2b94a0f" /><Relationship Type="http://schemas.openxmlformats.org/officeDocument/2006/relationships/notesSlide" Target="/ppt/notesSlides/notesSlide14.xml" Id="R00ca8d0c99424e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c0a54360104bb0" /><Relationship Type="http://schemas.openxmlformats.org/officeDocument/2006/relationships/notesSlide" Target="/ppt/notesSlides/notesSlide15.xml" Id="Rf5bf6f8ae887424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5c646afed2409a" /><Relationship Type="http://schemas.openxmlformats.org/officeDocument/2006/relationships/notesSlide" Target="/ppt/notesSlides/notesSlide16.xml" Id="R57ad98cf8dcf4a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2b34ee785754944" /><Relationship Type="http://schemas.openxmlformats.org/officeDocument/2006/relationships/notesSlide" Target="/ppt/notesSlides/notesSlide17.xml" Id="Rfe3fb208efd6409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53a964f4c1e49df" /><Relationship Type="http://schemas.openxmlformats.org/officeDocument/2006/relationships/notesSlide" Target="/ppt/notesSlides/notesSlide18.xml" Id="R6dde609774004fc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868e0a431934af2" /><Relationship Type="http://schemas.openxmlformats.org/officeDocument/2006/relationships/notesSlide" Target="/ppt/notesSlides/notesSlide19.xml" Id="R50f6c8ffba1f4eb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d399eb2039154ce4" /><Relationship Type="http://schemas.openxmlformats.org/officeDocument/2006/relationships/notesSlide" Target="/ppt/notesSlides/notesSlide20.xml" Id="R93fa503ec2c6423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400fc2c659db430f" /><Relationship Type="http://schemas.openxmlformats.org/officeDocument/2006/relationships/notesSlide" Target="/ppt/notesSlides/notesSlide21.xml" Id="R5070f9130e91420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52ed1af8e0f417c" /><Relationship Type="http://schemas.openxmlformats.org/officeDocument/2006/relationships/notesSlide" Target="/ppt/notesSlides/notesSlide22.xml" Id="R38bcefd8d32d40d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7c89a8af6ed41aa" /><Relationship Type="http://schemas.openxmlformats.org/officeDocument/2006/relationships/notesSlide" Target="/ppt/notesSlides/notesSlide23.xml" Id="R8e10bdadd0af477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131b45dd8c8421f" /><Relationship Type="http://schemas.openxmlformats.org/officeDocument/2006/relationships/notesSlide" Target="/ppt/notesSlides/notesSlide24.xml" Id="R50998f01ef71432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e4ecd18f06a43a1" /><Relationship Type="http://schemas.openxmlformats.org/officeDocument/2006/relationships/notesSlide" Target="/ppt/notesSlides/notesSlide25.xml" Id="R258a0ef7431d404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e86ce3b6bd1648d8" /><Relationship Type="http://schemas.openxmlformats.org/officeDocument/2006/relationships/notesSlide" Target="/ppt/notesSlides/notesSlide26.xml" Id="Ra9fa5054d5704a9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5FE6F73-9B89-48C1-B68C-DE96548F48BD}"/>
              </a:ext>
            </a:extLst>
          </p:cNvPr>
          <p:cNvSpPr>
            <a:spLocks xmlns:a="http://schemas.openxmlformats.org/drawingml/2006/main" noGrp="1"/>
          </p:cNvSpPr>
          <p:nvPr/>
        </p:nvSpPr>
        <p:spPr>
          <a:xfrm xmlns:a="http://schemas.openxmlformats.org/drawingml/2006/main">
            <a:off x="476250" y="762000"/>
            <a:ext cx="81915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650" b="1">
                <a:solidFill>
                  <a:srgbClr val="FF5425"/>
                </a:solidFill>
                <a:latin typeface="Rockwell"/>
                <a:ea typeface="Rockwell"/>
                <a:cs typeface="Rockwell"/>
              </a:defRPr>
            </a:defPPr>
            <a:lvl1pPr algn="ctr">
              <a:defRPr sz="4650" b="1">
                <a:solidFill>
                  <a:srgbClr val="FF5425"/>
                </a:solidFill>
                <a:latin typeface="Rockwell"/>
                <a:ea typeface="Rockwell"/>
                <a:cs typeface="Rockwell"/>
              </a:defRPr>
            </a:lvl1pPr>
            <a:lvl2pPr algn="ctr">
              <a:defRPr sz="4650" b="1">
                <a:solidFill>
                  <a:srgbClr val="FF5425"/>
                </a:solidFill>
                <a:latin typeface="Rockwell"/>
                <a:ea typeface="Rockwell"/>
                <a:cs typeface="Rockwell"/>
              </a:defRPr>
            </a:lvl2pPr>
            <a:lvl3pPr algn="ctr">
              <a:defRPr sz="4650" b="1">
                <a:solidFill>
                  <a:srgbClr val="FF5425"/>
                </a:solidFill>
                <a:latin typeface="Rockwell"/>
                <a:ea typeface="Rockwell"/>
                <a:cs typeface="Rockwell"/>
              </a:defRPr>
            </a:lvl3pPr>
            <a:lvl4pPr algn="ctr">
              <a:defRPr sz="4650" b="1">
                <a:solidFill>
                  <a:srgbClr val="FF5425"/>
                </a:solidFill>
                <a:latin typeface="Rockwell"/>
                <a:ea typeface="Rockwell"/>
                <a:cs typeface="Rockwell"/>
              </a:defRPr>
            </a:lvl4pPr>
            <a:lvl5pPr algn="ctr">
              <a:defRPr sz="4650" b="1">
                <a:solidFill>
                  <a:srgbClr val="FF5425"/>
                </a:solidFill>
                <a:latin typeface="Rockwell"/>
                <a:ea typeface="Rockwell"/>
                <a:cs typeface="Rockwell"/>
              </a:defRPr>
            </a:lvl5pPr>
            <a:lvl6pPr algn="ctr">
              <a:defRPr sz="4650" b="1">
                <a:solidFill>
                  <a:srgbClr val="FF5425"/>
                </a:solidFill>
                <a:latin typeface="Rockwell"/>
                <a:ea typeface="Rockwell"/>
                <a:cs typeface="Rockwell"/>
              </a:defRPr>
            </a:lvl6pPr>
            <a:lvl7pPr algn="ctr">
              <a:defRPr sz="4650" b="1">
                <a:solidFill>
                  <a:srgbClr val="FF5425"/>
                </a:solidFill>
                <a:latin typeface="Rockwell"/>
                <a:ea typeface="Rockwell"/>
                <a:cs typeface="Rockwell"/>
              </a:defRPr>
            </a:lvl7pPr>
            <a:lvl8pPr algn="ctr">
              <a:defRPr sz="4650" b="1">
                <a:solidFill>
                  <a:srgbClr val="FF5425"/>
                </a:solidFill>
                <a:latin typeface="Rockwell"/>
                <a:ea typeface="Rockwell"/>
                <a:cs typeface="Rockwell"/>
              </a:defRPr>
            </a:lvl8pPr>
            <a:lvl9pPr algn="ctr">
              <a:defRPr sz="4650" b="1">
                <a:solidFill>
                  <a:srgbClr val="FF5425"/>
                </a:solidFill>
                <a:latin typeface="Rockwell"/>
                <a:ea typeface="Rockwell"/>
                <a:cs typeface="Rockwell"/>
              </a:defRPr>
            </a:lvl9pPr>
          </a:lstStyle>
          <a:p xmlns:a="http://schemas.openxmlformats.org/drawingml/2006/main">
            <a:pPr algn="ctr">
              <a:defRPr sz="4650" b="1">
                <a:solidFill>
                  <a:srgbClr val="FF5425"/>
                </a:solidFill>
                <a:latin typeface="Rockwell"/>
                <a:ea typeface="Rockwell"/>
                <a:cs typeface="Rockwell"/>
              </a:defRPr>
            </a:pPr>
            <a:r>
              <a:rPr sz="4650" b="1">
                <a:solidFill>
                  <a:srgbClr val="FF5425"/>
                </a:solidFill>
                <a:latin typeface="Rockwell"/>
                <a:ea typeface="Rockwell"/>
                <a:cs typeface="Rockwell"/>
              </a:rPr>
              <a:t>Project Proposal</a:t>
            </a:r>
          </a:p>
        </p:txBody>
      </p:sp>
      <p:sp>
        <p:nvSpPr>
          <p:cNvPr id="3" name="">
            <a:extLst xmlns:a="http://schemas.openxmlformats.org/drawingml/2006/main">
              <a:ext uri="{FF2B5EF4-FFF2-40B4-BE49-F238E27FC236}">
                <a16:creationId xmlns:a16="http://schemas.microsoft.com/office/drawing/2014/main" id="{0249E456-F290-48ED-B96D-CC36A84DDEF4}"/>
              </a:ext>
            </a:extLst>
          </p:cNvPr>
          <p:cNvSpPr>
            <a:spLocks xmlns:a="http://schemas.openxmlformats.org/drawingml/2006/main" noGrp="1"/>
          </p:cNvSpPr>
          <p:nvPr/>
        </p:nvSpPr>
        <p:spPr>
          <a:xfrm xmlns:a="http://schemas.openxmlformats.org/drawingml/2006/main">
            <a:off x="381000" y="1666875"/>
            <a:ext cx="838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275" b="1">
                <a:solidFill>
                  <a:srgbClr val="FF5425"/>
                </a:solidFill>
                <a:latin typeface="Rockwell"/>
                <a:ea typeface="Rockwell"/>
                <a:cs typeface="Rockwell"/>
              </a:defRPr>
            </a:defPPr>
            <a:lvl1pPr algn="ctr">
              <a:defRPr sz="4275" b="1">
                <a:solidFill>
                  <a:srgbClr val="FF5425"/>
                </a:solidFill>
                <a:latin typeface="Rockwell"/>
                <a:ea typeface="Rockwell"/>
                <a:cs typeface="Rockwell"/>
              </a:defRPr>
            </a:lvl1pPr>
            <a:lvl2pPr algn="ctr">
              <a:defRPr sz="4275" b="1">
                <a:solidFill>
                  <a:srgbClr val="FF5425"/>
                </a:solidFill>
                <a:latin typeface="Rockwell"/>
                <a:ea typeface="Rockwell"/>
                <a:cs typeface="Rockwell"/>
              </a:defRPr>
            </a:lvl2pPr>
            <a:lvl3pPr algn="ctr">
              <a:defRPr sz="4275" b="1">
                <a:solidFill>
                  <a:srgbClr val="FF5425"/>
                </a:solidFill>
                <a:latin typeface="Rockwell"/>
                <a:ea typeface="Rockwell"/>
                <a:cs typeface="Rockwell"/>
              </a:defRPr>
            </a:lvl3pPr>
            <a:lvl4pPr algn="ctr">
              <a:defRPr sz="4275" b="1">
                <a:solidFill>
                  <a:srgbClr val="FF5425"/>
                </a:solidFill>
                <a:latin typeface="Rockwell"/>
                <a:ea typeface="Rockwell"/>
                <a:cs typeface="Rockwell"/>
              </a:defRPr>
            </a:lvl4pPr>
            <a:lvl5pPr algn="ctr">
              <a:defRPr sz="4275" b="1">
                <a:solidFill>
                  <a:srgbClr val="FF5425"/>
                </a:solidFill>
                <a:latin typeface="Rockwell"/>
                <a:ea typeface="Rockwell"/>
                <a:cs typeface="Rockwell"/>
              </a:defRPr>
            </a:lvl5pPr>
            <a:lvl6pPr algn="ctr">
              <a:defRPr sz="4275" b="1">
                <a:solidFill>
                  <a:srgbClr val="FF5425"/>
                </a:solidFill>
                <a:latin typeface="Rockwell"/>
                <a:ea typeface="Rockwell"/>
                <a:cs typeface="Rockwell"/>
              </a:defRPr>
            </a:lvl6pPr>
            <a:lvl7pPr algn="ctr">
              <a:defRPr sz="4275" b="1">
                <a:solidFill>
                  <a:srgbClr val="FF5425"/>
                </a:solidFill>
                <a:latin typeface="Rockwell"/>
                <a:ea typeface="Rockwell"/>
                <a:cs typeface="Rockwell"/>
              </a:defRPr>
            </a:lvl7pPr>
            <a:lvl8pPr algn="ctr">
              <a:defRPr sz="4275" b="1">
                <a:solidFill>
                  <a:srgbClr val="FF5425"/>
                </a:solidFill>
                <a:latin typeface="Rockwell"/>
                <a:ea typeface="Rockwell"/>
                <a:cs typeface="Rockwell"/>
              </a:defRPr>
            </a:lvl8pPr>
            <a:lvl9pPr algn="ctr">
              <a:defRPr sz="4275" b="1">
                <a:solidFill>
                  <a:srgbClr val="FF5425"/>
                </a:solidFill>
                <a:latin typeface="Rockwell"/>
                <a:ea typeface="Rockwell"/>
                <a:cs typeface="Rockwell"/>
              </a:defRPr>
            </a:lvl9pPr>
          </a:lstStyle>
          <a:p xmlns:a="http://schemas.openxmlformats.org/drawingml/2006/main">
            <a:pPr algn="ctr">
              <a:defRPr sz="4275" b="1">
                <a:solidFill>
                  <a:srgbClr val="FF5425"/>
                </a:solidFill>
                <a:latin typeface="Rockwell"/>
                <a:ea typeface="Rockwell"/>
                <a:cs typeface="Rockwell"/>
              </a:defRPr>
            </a:pPr>
            <a:r>
              <a:rPr sz="4275" b="1">
                <a:solidFill>
                  <a:srgbClr val="FF5425"/>
                </a:solidFill>
                <a:latin typeface="Rockwell"/>
                <a:ea typeface="Rockwell"/>
                <a:cs typeface="Rockwell"/>
              </a:rPr>
              <a:t>GitHub Security Gate</a:t>
            </a:r>
          </a:p>
        </p:txBody>
      </p:sp>
      <p:sp>
        <p:nvSpPr>
          <p:cNvPr id="4" name="">
            <a:extLst xmlns:a="http://schemas.openxmlformats.org/drawingml/2006/main">
              <a:ext uri="{FF2B5EF4-FFF2-40B4-BE49-F238E27FC236}">
                <a16:creationId xmlns:a16="http://schemas.microsoft.com/office/drawing/2014/main" id="{7FE764A8-1E9B-49F6-8218-2A1A5D8B3B2A}"/>
              </a:ext>
            </a:extLst>
          </p:cNvPr>
          <p:cNvSpPr>
            <a:spLocks xmlns:a="http://schemas.openxmlformats.org/drawingml/2006/main" noGrp="1"/>
          </p:cNvSpPr>
          <p:nvPr/>
        </p:nvSpPr>
        <p:spPr>
          <a:xfrm xmlns:a="http://schemas.openxmlformats.org/drawingml/2006/main">
            <a:off x="4276725" y="2695575"/>
            <a:ext cx="590550" cy="76200"/>
          </a:xfrm>
          <a:prstGeom xmlns:a="http://schemas.openxmlformats.org/drawingml/2006/main" prst="rect">
            <a:avLst/>
          </a:prstGeom>
          <a:solidFill xmlns:a="http://schemas.openxmlformats.org/drawingml/2006/main">
            <a:srgbClr val="4285FF"/>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283BFB-244A-4F06-927D-00F1F40CE965}"/>
              </a:ext>
            </a:extLst>
          </p:cNvPr>
          <p:cNvSpPr>
            <a:spLocks xmlns:a="http://schemas.openxmlformats.org/drawingml/2006/main" noGrp="1"/>
          </p:cNvSpPr>
          <p:nvPr/>
        </p:nvSpPr>
        <p:spPr>
          <a:xfrm xmlns:a="http://schemas.openxmlformats.org/drawingml/2006/main">
            <a:off x="1333500" y="3038475"/>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4285FF"/>
                </a:solidFill>
                <a:latin typeface="Arial"/>
                <a:ea typeface="Arial"/>
                <a:cs typeface="Arial"/>
              </a:defRPr>
            </a:defPPr>
            <a:lvl1pPr algn="ctr">
              <a:defRPr sz="1725" b="0">
                <a:solidFill>
                  <a:srgbClr val="4285FF"/>
                </a:solidFill>
                <a:latin typeface="Arial"/>
                <a:ea typeface="Arial"/>
                <a:cs typeface="Arial"/>
              </a:defRPr>
            </a:lvl1pPr>
            <a:lvl2pPr algn="ctr">
              <a:defRPr sz="1725" b="0">
                <a:solidFill>
                  <a:srgbClr val="4285FF"/>
                </a:solidFill>
                <a:latin typeface="Arial"/>
                <a:ea typeface="Arial"/>
                <a:cs typeface="Arial"/>
              </a:defRPr>
            </a:lvl2pPr>
            <a:lvl3pPr algn="ctr">
              <a:defRPr sz="1725" b="0">
                <a:solidFill>
                  <a:srgbClr val="4285FF"/>
                </a:solidFill>
                <a:latin typeface="Arial"/>
                <a:ea typeface="Arial"/>
                <a:cs typeface="Arial"/>
              </a:defRPr>
            </a:lvl3pPr>
            <a:lvl4pPr algn="ctr">
              <a:defRPr sz="1725" b="0">
                <a:solidFill>
                  <a:srgbClr val="4285FF"/>
                </a:solidFill>
                <a:latin typeface="Arial"/>
                <a:ea typeface="Arial"/>
                <a:cs typeface="Arial"/>
              </a:defRPr>
            </a:lvl4pPr>
            <a:lvl5pPr algn="ctr">
              <a:defRPr sz="1725" b="0">
                <a:solidFill>
                  <a:srgbClr val="4285FF"/>
                </a:solidFill>
                <a:latin typeface="Arial"/>
                <a:ea typeface="Arial"/>
                <a:cs typeface="Arial"/>
              </a:defRPr>
            </a:lvl5pPr>
            <a:lvl6pPr algn="ctr">
              <a:defRPr sz="1725" b="0">
                <a:solidFill>
                  <a:srgbClr val="4285FF"/>
                </a:solidFill>
                <a:latin typeface="Arial"/>
                <a:ea typeface="Arial"/>
                <a:cs typeface="Arial"/>
              </a:defRPr>
            </a:lvl6pPr>
            <a:lvl7pPr algn="ctr">
              <a:defRPr sz="1725" b="0">
                <a:solidFill>
                  <a:srgbClr val="4285FF"/>
                </a:solidFill>
                <a:latin typeface="Arial"/>
                <a:ea typeface="Arial"/>
                <a:cs typeface="Arial"/>
              </a:defRPr>
            </a:lvl7pPr>
            <a:lvl8pPr algn="ctr">
              <a:defRPr sz="1725" b="0">
                <a:solidFill>
                  <a:srgbClr val="4285FF"/>
                </a:solidFill>
                <a:latin typeface="Arial"/>
                <a:ea typeface="Arial"/>
                <a:cs typeface="Arial"/>
              </a:defRPr>
            </a:lvl8pPr>
            <a:lvl9pPr algn="ctr">
              <a:defRPr sz="1725" b="0">
                <a:solidFill>
                  <a:srgbClr val="4285FF"/>
                </a:solidFill>
                <a:latin typeface="Arial"/>
                <a:ea typeface="Arial"/>
                <a:cs typeface="Arial"/>
              </a:defRPr>
            </a:lvl9pPr>
          </a:lstStyle>
          <a:p xmlns:a="http://schemas.openxmlformats.org/drawingml/2006/main">
            <a:pPr algn="ctr">
              <a:defRPr sz="1725" b="0">
                <a:solidFill>
                  <a:srgbClr val="4285FF"/>
                </a:solidFill>
                <a:latin typeface="Arial"/>
                <a:ea typeface="Arial"/>
                <a:cs typeface="Arial"/>
              </a:defRPr>
            </a:pPr>
            <a:r>
              <a:rPr sz="1725" b="0">
                <a:solidFill>
                  <a:srgbClr val="4285FF"/>
                </a:solidFill>
                <a:latin typeface="Arial"/>
                <a:ea typeface="Arial"/>
                <a:cs typeface="Arial"/>
              </a:rPr>
              <a:t>Team Implementation Reference</a:t>
            </a:r>
          </a:p>
        </p:txBody>
      </p:sp>
      <p:sp>
        <p:nvSpPr>
          <p:cNvPr id="6" name="">
            <a:extLst xmlns:a="http://schemas.openxmlformats.org/drawingml/2006/main">
              <a:ext uri="{FF2B5EF4-FFF2-40B4-BE49-F238E27FC236}">
                <a16:creationId xmlns:a16="http://schemas.microsoft.com/office/drawing/2014/main" id="{1740E9E8-7A07-4000-A9CA-4CB7B98E9AFE}"/>
              </a:ext>
            </a:extLst>
          </p:cNvPr>
          <p:cNvSpPr>
            <a:spLocks xmlns:a="http://schemas.openxmlformats.org/drawingml/2006/main" noGrp="1"/>
          </p:cNvSpPr>
          <p:nvPr/>
        </p:nvSpPr>
        <p:spPr>
          <a:xfrm xmlns:a="http://schemas.openxmlformats.org/drawingml/2006/main">
            <a:off x="1333500" y="3476625"/>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4285FF"/>
                </a:solidFill>
                <a:latin typeface="Arial"/>
                <a:ea typeface="Arial"/>
                <a:cs typeface="Arial"/>
              </a:defRPr>
            </a:defPPr>
            <a:lvl1pPr algn="ctr">
              <a:defRPr sz="1725" b="0">
                <a:solidFill>
                  <a:srgbClr val="4285FF"/>
                </a:solidFill>
                <a:latin typeface="Arial"/>
                <a:ea typeface="Arial"/>
                <a:cs typeface="Arial"/>
              </a:defRPr>
            </a:lvl1pPr>
            <a:lvl2pPr algn="ctr">
              <a:defRPr sz="1725" b="0">
                <a:solidFill>
                  <a:srgbClr val="4285FF"/>
                </a:solidFill>
                <a:latin typeface="Arial"/>
                <a:ea typeface="Arial"/>
                <a:cs typeface="Arial"/>
              </a:defRPr>
            </a:lvl2pPr>
            <a:lvl3pPr algn="ctr">
              <a:defRPr sz="1725" b="0">
                <a:solidFill>
                  <a:srgbClr val="4285FF"/>
                </a:solidFill>
                <a:latin typeface="Arial"/>
                <a:ea typeface="Arial"/>
                <a:cs typeface="Arial"/>
              </a:defRPr>
            </a:lvl3pPr>
            <a:lvl4pPr algn="ctr">
              <a:defRPr sz="1725" b="0">
                <a:solidFill>
                  <a:srgbClr val="4285FF"/>
                </a:solidFill>
                <a:latin typeface="Arial"/>
                <a:ea typeface="Arial"/>
                <a:cs typeface="Arial"/>
              </a:defRPr>
            </a:lvl4pPr>
            <a:lvl5pPr algn="ctr">
              <a:defRPr sz="1725" b="0">
                <a:solidFill>
                  <a:srgbClr val="4285FF"/>
                </a:solidFill>
                <a:latin typeface="Arial"/>
                <a:ea typeface="Arial"/>
                <a:cs typeface="Arial"/>
              </a:defRPr>
            </a:lvl5pPr>
            <a:lvl6pPr algn="ctr">
              <a:defRPr sz="1725" b="0">
                <a:solidFill>
                  <a:srgbClr val="4285FF"/>
                </a:solidFill>
                <a:latin typeface="Arial"/>
                <a:ea typeface="Arial"/>
                <a:cs typeface="Arial"/>
              </a:defRPr>
            </a:lvl6pPr>
            <a:lvl7pPr algn="ctr">
              <a:defRPr sz="1725" b="0">
                <a:solidFill>
                  <a:srgbClr val="4285FF"/>
                </a:solidFill>
                <a:latin typeface="Arial"/>
                <a:ea typeface="Arial"/>
                <a:cs typeface="Arial"/>
              </a:defRPr>
            </a:lvl7pPr>
            <a:lvl8pPr algn="ctr">
              <a:defRPr sz="1725" b="0">
                <a:solidFill>
                  <a:srgbClr val="4285FF"/>
                </a:solidFill>
                <a:latin typeface="Arial"/>
                <a:ea typeface="Arial"/>
                <a:cs typeface="Arial"/>
              </a:defRPr>
            </a:lvl8pPr>
            <a:lvl9pPr algn="ctr">
              <a:defRPr sz="1725" b="0">
                <a:solidFill>
                  <a:srgbClr val="4285FF"/>
                </a:solidFill>
                <a:latin typeface="Arial"/>
                <a:ea typeface="Arial"/>
                <a:cs typeface="Arial"/>
              </a:defRPr>
            </a:lvl9pPr>
          </a:lstStyle>
          <a:p xmlns:a="http://schemas.openxmlformats.org/drawingml/2006/main">
            <a:pPr algn="ctr">
              <a:defRPr sz="1725" b="0">
                <a:solidFill>
                  <a:srgbClr val="4285FF"/>
                </a:solidFill>
                <a:latin typeface="Arial"/>
                <a:ea typeface="Arial"/>
                <a:cs typeface="Arial"/>
              </a:defRPr>
            </a:pPr>
            <a:r>
              <a:rPr sz="1725" b="0">
                <a:solidFill>
                  <a:srgbClr val="4285FF"/>
                </a:solidFill>
                <a:latin typeface="Arial"/>
                <a:ea typeface="Arial"/>
                <a:cs typeface="Arial"/>
              </a:rPr>
              <a:t>Aditya Chatterjee</a:t>
            </a:r>
          </a:p>
          <a:p xmlns:a="http://schemas.openxmlformats.org/drawingml/2006/main">
            <a:pPr algn="ctr">
              <a:defRPr sz="1725" b="0">
                <a:solidFill>
                  <a:srgbClr val="4285FF"/>
                </a:solidFill>
                <a:latin typeface="Arial"/>
                <a:ea typeface="Arial"/>
                <a:cs typeface="Arial"/>
              </a:defRPr>
            </a:pPr>
            <a:r>
              <a:rPr sz="1725" b="0">
                <a:solidFill>
                  <a:srgbClr val="4285FF"/>
                </a:solidFill>
                <a:latin typeface="Arial"/>
                <a:ea typeface="Arial"/>
                <a:cs typeface="Arial"/>
              </a:rPr>
              <a:t>Arvind Dharmesh Parekh</a:t>
            </a:r>
          </a:p>
          <a:p xmlns:a="http://schemas.openxmlformats.org/drawingml/2006/main">
            <a:pPr algn="ctr">
              <a:defRPr sz="1725" b="0">
                <a:solidFill>
                  <a:srgbClr val="4285FF"/>
                </a:solidFill>
                <a:latin typeface="Arial"/>
                <a:ea typeface="Arial"/>
                <a:cs typeface="Arial"/>
              </a:defRPr>
            </a:pPr>
            <a:r>
              <a:rPr sz="1725" b="0">
                <a:solidFill>
                  <a:srgbClr val="4285FF"/>
                </a:solidFill>
                <a:latin typeface="Arial"/>
                <a:ea typeface="Arial"/>
                <a:cs typeface="Arial"/>
              </a:rPr>
              <a:t>Chengyuan Sun</a:t>
            </a:r>
          </a:p>
        </p:txBody>
      </p:sp>
    </p:spTree>
    <p:extLst>
      <p:ext uri="{BB962C8B-B14F-4D97-AF65-F5344CB8AC3E}">
        <p14:creationId xmlns:p14="http://schemas.microsoft.com/office/powerpoint/2010/main" val="3255590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4E5C96-B2EA-42B7-9376-091F4F1E8E9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Project Goal and Scope</a:t>
            </a:r>
          </a:p>
        </p:txBody>
      </p:sp>
      <p:sp>
        <p:nvSpPr>
          <p:cNvPr id="3" name="">
            <a:extLst xmlns:a="http://schemas.openxmlformats.org/drawingml/2006/main">
              <a:ext uri="{FF2B5EF4-FFF2-40B4-BE49-F238E27FC236}">
                <a16:creationId xmlns:a16="http://schemas.microsoft.com/office/drawing/2014/main" id="{49798980-A307-4F3D-B92D-E30711EBB7A8}"/>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Original must-have deliverable</a:t>
            </a:r>
          </a:p>
        </p:txBody>
      </p:sp>
      <p:sp>
        <p:nvSpPr>
          <p:cNvPr id="4" name="">
            <a:extLst xmlns:a="http://schemas.openxmlformats.org/drawingml/2006/main">
              <a:ext uri="{FF2B5EF4-FFF2-40B4-BE49-F238E27FC236}">
                <a16:creationId xmlns:a16="http://schemas.microsoft.com/office/drawing/2014/main" id="{E40890F0-2B88-4B51-86A0-2354C79AED29}"/>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One team repository. Supplied JavaScript SAST and Node / Express backend.</a:t>
            </a:r>
          </a:p>
          <a:p xmlns:a="http://schemas.openxmlformats.org/drawingml/2006/main">
            <a:pPr marL="228600" indent="-114300" algn="l">
              <a:spcAft>
                <a:spcPts val="900"/>
              </a:spcAft>
              <a:buChar char="•"/>
              <a:defRPr sz="1500" b="0">
                <a:solidFill>
                  <a:srgbClr val="666666"/>
                </a:solidFill>
                <a:latin typeface="Arial"/>
                <a:ea typeface="Arial"/>
                <a:cs typeface="Arial"/>
              </a:defRPr>
            </a:pPr>
            <a:r>
              <a:t>Required GitHub check: block HIGH findings and allow a corrected commit.</a:t>
            </a:r>
          </a:p>
          <a:p xmlns:a="http://schemas.openxmlformats.org/drawingml/2006/main">
            <a:pPr marL="228600" indent="-114300" algn="l">
              <a:spcAft>
                <a:spcPts val="900"/>
              </a:spcAft>
              <a:buChar char="•"/>
              <a:defRPr sz="1500" b="0">
                <a:solidFill>
                  <a:srgbClr val="666666"/>
                </a:solidFill>
                <a:latin typeface="Arial"/>
                <a:ea typeface="Arial"/>
                <a:cs typeface="Arial"/>
              </a:defRPr>
            </a:pPr>
            <a:r>
              <a:t>Private redacted reports with expiring links, plus bounded Docker scans.</a:t>
            </a:r>
          </a:p>
        </p:txBody>
      </p:sp>
      <p:sp>
        <p:nvSpPr>
          <p:cNvPr id="5" name="">
            <a:extLst xmlns:a="http://schemas.openxmlformats.org/drawingml/2006/main">
              <a:ext uri="{FF2B5EF4-FFF2-40B4-BE49-F238E27FC236}">
                <a16:creationId xmlns:a16="http://schemas.microsoft.com/office/drawing/2014/main" id="{4242B42A-233E-4255-ACDE-E05FE763702B}"/>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Nice to have (not required)</a:t>
            </a:r>
          </a:p>
        </p:txBody>
      </p:sp>
      <p:sp>
        <p:nvSpPr>
          <p:cNvPr id="6" name="">
            <a:extLst xmlns:a="http://schemas.openxmlformats.org/drawingml/2006/main">
              <a:ext uri="{FF2B5EF4-FFF2-40B4-BE49-F238E27FC236}">
                <a16:creationId xmlns:a16="http://schemas.microsoft.com/office/drawing/2014/main" id="{556272FB-AA70-4D29-B47F-B7350A114A1F}"/>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Pentesting, more languages, and multiple teams.</a:t>
            </a:r>
          </a:p>
          <a:p xmlns:a="http://schemas.openxmlformats.org/drawingml/2006/main">
            <a:pPr marL="228600" indent="-114300" algn="l">
              <a:spcAft>
                <a:spcPts val="900"/>
              </a:spcAft>
              <a:buChar char="•"/>
              <a:defRPr sz="1500" b="0">
                <a:solidFill>
                  <a:srgbClr val="666666"/>
                </a:solidFill>
                <a:latin typeface="Arial"/>
                <a:ea typeface="Arial"/>
                <a:cs typeface="Arial"/>
              </a:defRPr>
            </a:pPr>
            <a:r>
              <a:t>Custom dashboard, chat notifications, and rule-management UI.</a:t>
            </a:r>
          </a:p>
          <a:p xmlns:a="http://schemas.openxmlformats.org/drawingml/2006/main">
            <a:pPr marL="228600" indent="-114300" algn="l">
              <a:spcAft>
                <a:spcPts val="900"/>
              </a:spcAft>
              <a:buChar char="•"/>
              <a:defRPr sz="1500" b="0">
                <a:solidFill>
                  <a:srgbClr val="666666"/>
                </a:solidFill>
                <a:latin typeface="Arial"/>
                <a:ea typeface="Arial"/>
                <a:cs typeface="Arial"/>
              </a:defRPr>
            </a:pPr>
            <a:r>
              <a:t>Automatic capacity scaling beyond two hosts and scheduled rescans.</a:t>
            </a:r>
          </a:p>
        </p:txBody>
      </p:sp>
      <p:sp>
        <p:nvSpPr>
          <p:cNvPr id="7" name="">
            <a:extLst xmlns:a="http://schemas.openxmlformats.org/drawingml/2006/main">
              <a:ext uri="{FF2B5EF4-FFF2-40B4-BE49-F238E27FC236}">
                <a16:creationId xmlns:a16="http://schemas.microsoft.com/office/drawing/2014/main" id="{DA16F775-3EA3-4FA2-BAEC-EBDF1F346C1A}"/>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Goal and final demo are unchanged. Deployment changes address the professor’s feedback.</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Nice-to-haves are future options, not commitments for this project.</a:t>
            </a:r>
          </a:p>
        </p:txBody>
      </p:sp>
    </p:spTree>
    <p:extLst>
      <p:ext uri="{BB962C8B-B14F-4D97-AF65-F5344CB8AC3E}">
        <p14:creationId xmlns:p14="http://schemas.microsoft.com/office/powerpoint/2010/main" val="172911894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1379865C-4BCF-4A9C-BCB5-C8BFB57C2FA7}"/>
              </a:ext>
            </a:extLst>
          </p:cNvPr>
          <p:cNvCxnSpPr>
            <a:stCxn xmlns:a="http://schemas.openxmlformats.org/drawingml/2006/main" id="9" idx="1"/>
            <a:endCxn xmlns:a="http://schemas.openxmlformats.org/drawingml/2006/main" id="10" idx="0"/>
          </p:cNvCxnSpPr>
          <p:nvPr/>
        </p:nvCxnSpPr>
        <p:spPr>
          <a:xfrm xmlns:a="http://schemas.openxmlformats.org/drawingml/2006/main" flipH="1">
            <a:off x="2490788" y="1666875"/>
            <a:ext cx="2728913" cy="1200150"/>
          </a:xfrm>
          <a:prstGeom xmlns:a="http://schemas.openxmlformats.org/drawingml/2006/main" prst="bentConnector4">
            <a:avLst>
              <a:gd name="adj1" fmla="val 8377"/>
              <a:gd name="adj2" fmla="val 80952"/>
            </a:avLst>
          </a:prstGeom>
          <a:ln xmlns:a="http://schemas.openxmlformats.org/drawingml/2006/main" w="11430">
            <a:solidFill>
              <a:srgbClr val="333333"/>
            </a:solidFill>
            <a:headEnd type="arrow" w="sm" len="sm"/>
            <a:tailEnd type="arrow" w="sm" len="sm"/>
          </a:ln>
        </p:spPr>
      </p:cxnSp>
      <p:cxnSp>
        <p:nvCxnSpPr>
          <p:cNvPr id="3" name="">
            <a:extLst xmlns:a="http://schemas.openxmlformats.org/drawingml/2006/main">
              <a:ext uri="{FF2B5EF4-FFF2-40B4-BE49-F238E27FC236}">
                <a16:creationId xmlns:a16="http://schemas.microsoft.com/office/drawing/2014/main" id="{BA47B3E9-205A-40EA-9FD6-530ED3C8513F}"/>
              </a:ext>
            </a:extLst>
          </p:cNvPr>
          <p:cNvCxnSpPr>
            <a:stCxn xmlns:a="http://schemas.openxmlformats.org/drawingml/2006/main" id="9" idx="2"/>
            <a:endCxn xmlns:a="http://schemas.openxmlformats.org/drawingml/2006/main" id="11" idx="0"/>
          </p:cNvCxnSpPr>
          <p:nvPr/>
        </p:nvCxnSpPr>
        <p:spPr>
          <a:xfrm xmlns:a="http://schemas.openxmlformats.org/drawingml/2006/main">
            <a:off x="6977063" y="2133600"/>
            <a:ext cx="0" cy="733425"/>
          </a:xfrm>
          <a:prstGeom xmlns:a="http://schemas.openxmlformats.org/drawingml/2006/main" prst="straightConnector1">
            <a:avLst/>
          </a:prstGeom>
          <a:ln xmlns:a="http://schemas.openxmlformats.org/drawingml/2006/main" w="11430">
            <a:solidFill>
              <a:srgbClr val="333333"/>
            </a:solidFill>
            <a:headEnd type="arrow" w="sm" len="sm"/>
            <a:tailEnd type="arrow" w="sm" len="sm"/>
          </a:ln>
        </p:spPr>
      </p:cxnSp>
      <p:cxnSp>
        <p:nvCxnSpPr>
          <p:cNvPr id="4" name="">
            <a:extLst xmlns:a="http://schemas.openxmlformats.org/drawingml/2006/main">
              <a:ext uri="{FF2B5EF4-FFF2-40B4-BE49-F238E27FC236}">
                <a16:creationId xmlns:a16="http://schemas.microsoft.com/office/drawing/2014/main" id="{FAD9F909-E99F-4C4C-8818-5681960F093E}"/>
              </a:ext>
            </a:extLst>
          </p:cNvPr>
          <p:cNvCxnSpPr>
            <a:stCxn xmlns:a="http://schemas.openxmlformats.org/drawingml/2006/main" id="8" idx="3"/>
            <a:endCxn xmlns:a="http://schemas.openxmlformats.org/drawingml/2006/main" id="9" idx="1"/>
          </p:cNvCxnSpPr>
          <p:nvPr/>
        </p:nvCxnSpPr>
        <p:spPr>
          <a:xfrm xmlns:a="http://schemas.openxmlformats.org/drawingml/2006/main">
            <a:off x="4572000" y="1666875"/>
            <a:ext cx="647700" cy="0"/>
          </a:xfrm>
          <a:prstGeom xmlns:a="http://schemas.openxmlformats.org/drawingml/2006/main" prst="straightConnector1">
            <a:avLst/>
          </a:prstGeom>
          <a:ln xmlns:a="http://schemas.openxmlformats.org/drawingml/2006/main" w="11430">
            <a:solidFill>
              <a:srgbClr val="333333"/>
            </a:solidFill>
            <a:headEnd type="arrow" w="sm" len="sm"/>
            <a:tailEnd type="arrow" w="sm" len="sm"/>
          </a:ln>
        </p:spPr>
      </p:cxnSp>
      <p:cxnSp>
        <p:nvCxnSpPr>
          <p:cNvPr id="5" name="">
            <a:extLst xmlns:a="http://schemas.openxmlformats.org/drawingml/2006/main">
              <a:ext uri="{FF2B5EF4-FFF2-40B4-BE49-F238E27FC236}">
                <a16:creationId xmlns:a16="http://schemas.microsoft.com/office/drawing/2014/main" id="{6FC7950C-FFF2-4927-8C59-0EA7C1B10C04}"/>
              </a:ext>
            </a:extLst>
          </p:cNvPr>
          <p:cNvCxnSpPr>
            <a:stCxn xmlns:a="http://schemas.openxmlformats.org/drawingml/2006/main" id="7" idx="3"/>
            <a:endCxn xmlns:a="http://schemas.openxmlformats.org/drawingml/2006/main" id="8" idx="1"/>
          </p:cNvCxnSpPr>
          <p:nvPr/>
        </p:nvCxnSpPr>
        <p:spPr>
          <a:xfrm xmlns:a="http://schemas.openxmlformats.org/drawingml/2006/main">
            <a:off x="2371725" y="1666875"/>
            <a:ext cx="476250" cy="0"/>
          </a:xfrm>
          <a:prstGeom xmlns:a="http://schemas.openxmlformats.org/drawingml/2006/main" prst="straightConnector1">
            <a:avLst/>
          </a:prstGeom>
          <a:ln xmlns:a="http://schemas.openxmlformats.org/drawingml/2006/main" w="11430">
            <a:solidFill>
              <a:srgbClr val="333333"/>
            </a:solidFill>
            <a:tailEnd type="arrow" w="sm" len="sm"/>
          </a:ln>
        </p:spPr>
      </p:cxnSp>
      <p:sp>
        <p:nvSpPr>
          <p:cNvPr id="6" name="">
            <a:extLst xmlns:a="http://schemas.openxmlformats.org/drawingml/2006/main">
              <a:ext uri="{FF2B5EF4-FFF2-40B4-BE49-F238E27FC236}">
                <a16:creationId xmlns:a16="http://schemas.microsoft.com/office/drawing/2014/main" id="{35C77E95-67A4-4F56-9809-503DA3CB38F7}"/>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Architecture Diagram</a:t>
            </a:r>
          </a:p>
        </p:txBody>
      </p:sp>
      <p:sp>
        <p:nvSpPr>
          <p:cNvPr id="7" name="">
            <a:extLst xmlns:a="http://schemas.openxmlformats.org/drawingml/2006/main">
              <a:ext uri="{FF2B5EF4-FFF2-40B4-BE49-F238E27FC236}">
                <a16:creationId xmlns:a16="http://schemas.microsoft.com/office/drawing/2014/main" id="{440BBC2B-1AC4-4BE3-8041-4B661F40551D}"/>
              </a:ext>
            </a:extLst>
          </p:cNvPr>
          <p:cNvSpPr>
            <a:spLocks xmlns:a="http://schemas.openxmlformats.org/drawingml/2006/main" noGrp="1"/>
          </p:cNvSpPr>
          <p:nvPr/>
        </p:nvSpPr>
        <p:spPr>
          <a:xfrm xmlns:a="http://schemas.openxmlformats.org/drawingml/2006/main">
            <a:off x="409575" y="1304925"/>
            <a:ext cx="19621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GitHub Actions</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Submit / poll / required check</a:t>
            </a:r>
          </a:p>
        </p:txBody>
      </p:sp>
      <p:sp>
        <p:nvSpPr>
          <p:cNvPr id="8" name="">
            <a:extLst xmlns:a="http://schemas.openxmlformats.org/drawingml/2006/main">
              <a:ext uri="{FF2B5EF4-FFF2-40B4-BE49-F238E27FC236}">
                <a16:creationId xmlns:a16="http://schemas.microsoft.com/office/drawing/2014/main" id="{AF047554-2D2D-4B73-B6F5-EF65D63C42F0}"/>
              </a:ext>
            </a:extLst>
          </p:cNvPr>
          <p:cNvSpPr>
            <a:spLocks xmlns:a="http://schemas.openxmlformats.org/drawingml/2006/main" noGrp="1"/>
          </p:cNvSpPr>
          <p:nvPr/>
        </p:nvSpPr>
        <p:spPr>
          <a:xfrm xmlns:a="http://schemas.openxmlformats.org/drawingml/2006/main">
            <a:off x="2847975" y="1304925"/>
            <a:ext cx="1724025"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Public ALB</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HTTPS on 443</a:t>
            </a:r>
          </a:p>
        </p:txBody>
      </p:sp>
      <p:sp>
        <p:nvSpPr>
          <p:cNvPr id="9" name="">
            <a:extLst xmlns:a="http://schemas.openxmlformats.org/drawingml/2006/main">
              <a:ext uri="{FF2B5EF4-FFF2-40B4-BE49-F238E27FC236}">
                <a16:creationId xmlns:a16="http://schemas.microsoft.com/office/drawing/2014/main" id="{FDDED6D4-2FD6-4A0D-9714-594D21FC81B8}"/>
              </a:ext>
            </a:extLst>
          </p:cNvPr>
          <p:cNvSpPr>
            <a:spLocks xmlns:a="http://schemas.openxmlformats.org/drawingml/2006/main" noGrp="1"/>
          </p:cNvSpPr>
          <p:nvPr/>
        </p:nvSpPr>
        <p:spPr>
          <a:xfrm xmlns:a="http://schemas.openxmlformats.org/drawingml/2006/main">
            <a:off x="5219700" y="1200150"/>
            <a:ext cx="3514725" cy="93345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Private EC2 Auto Scaling Group</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2 nodes / 2 AZs</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Each node: API + separate worker</a:t>
            </a:r>
          </a:p>
        </p:txBody>
      </p:sp>
      <p:sp>
        <p:nvSpPr>
          <p:cNvPr id="10" name="">
            <a:extLst xmlns:a="http://schemas.openxmlformats.org/drawingml/2006/main">
              <a:ext uri="{FF2B5EF4-FFF2-40B4-BE49-F238E27FC236}">
                <a16:creationId xmlns:a16="http://schemas.microsoft.com/office/drawing/2014/main" id="{61782F62-78CA-4693-8C93-62F556985E3A}"/>
              </a:ext>
            </a:extLst>
          </p:cNvPr>
          <p:cNvSpPr>
            <a:spLocks xmlns:a="http://schemas.openxmlformats.org/drawingml/2006/main" noGrp="1"/>
          </p:cNvSpPr>
          <p:nvPr/>
        </p:nvSpPr>
        <p:spPr>
          <a:xfrm xmlns:a="http://schemas.openxmlformats.org/drawingml/2006/main">
            <a:off x="409575" y="2867025"/>
            <a:ext cx="416242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Private S3 + DynamoDB</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Inputs / reports + job state / leases</a:t>
            </a:r>
          </a:p>
        </p:txBody>
      </p:sp>
      <p:sp>
        <p:nvSpPr>
          <p:cNvPr id="11" name="">
            <a:extLst xmlns:a="http://schemas.openxmlformats.org/drawingml/2006/main">
              <a:ext uri="{FF2B5EF4-FFF2-40B4-BE49-F238E27FC236}">
                <a16:creationId xmlns:a16="http://schemas.microsoft.com/office/drawing/2014/main" id="{E1C20353-5DE9-42A5-B34C-1D95E4743C0F}"/>
              </a:ext>
            </a:extLst>
          </p:cNvPr>
          <p:cNvSpPr>
            <a:spLocks xmlns:a="http://schemas.openxmlformats.org/drawingml/2006/main" noGrp="1"/>
          </p:cNvSpPr>
          <p:nvPr/>
        </p:nvSpPr>
        <p:spPr>
          <a:xfrm xmlns:a="http://schemas.openxmlformats.org/drawingml/2006/main">
            <a:off x="5219700" y="2867025"/>
            <a:ext cx="351472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SQS + dead-letter queue</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Durable pending scan jobs</a:t>
            </a:r>
          </a:p>
        </p:txBody>
      </p:sp>
      <p:sp>
        <p:nvSpPr>
          <p:cNvPr id="12" name="">
            <a:extLst xmlns:a="http://schemas.openxmlformats.org/drawingml/2006/main">
              <a:ext uri="{FF2B5EF4-FFF2-40B4-BE49-F238E27FC236}">
                <a16:creationId xmlns:a16="http://schemas.microsoft.com/office/drawing/2014/main" id="{D62A595A-B7A2-486C-8B27-A50FCCD1737E}"/>
              </a:ext>
            </a:extLst>
          </p:cNvPr>
          <p:cNvSpPr>
            <a:spLocks xmlns:a="http://schemas.openxmlformats.org/drawingml/2006/main" noGrp="1"/>
          </p:cNvSpPr>
          <p:nvPr/>
        </p:nvSpPr>
        <p:spPr>
          <a:xfrm xmlns:a="http://schemas.openxmlformats.org/drawingml/2006/main">
            <a:off x="409575" y="4000500"/>
            <a:ext cx="41624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ECR: fixed scanner images</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Parameter Store: token verifier hashes</a:t>
            </a:r>
          </a:p>
        </p:txBody>
      </p:sp>
      <p:sp>
        <p:nvSpPr>
          <p:cNvPr id="13" name="">
            <a:extLst xmlns:a="http://schemas.openxmlformats.org/drawingml/2006/main">
              <a:ext uri="{FF2B5EF4-FFF2-40B4-BE49-F238E27FC236}">
                <a16:creationId xmlns:a16="http://schemas.microsoft.com/office/drawing/2014/main" id="{4F0920A1-1A8F-44EC-811D-3C0F0A091B29}"/>
              </a:ext>
            </a:extLst>
          </p:cNvPr>
          <p:cNvSpPr>
            <a:spLocks xmlns:a="http://schemas.openxmlformats.org/drawingml/2006/main" noGrp="1"/>
          </p:cNvSpPr>
          <p:nvPr/>
        </p:nvSpPr>
        <p:spPr>
          <a:xfrm xmlns:a="http://schemas.openxmlformats.org/drawingml/2006/main">
            <a:off x="5219700" y="4000500"/>
            <a:ext cx="3514725" cy="6858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CloudWatch: logs / metrics / alarms</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SNS: operator notifications</a:t>
            </a:r>
          </a:p>
        </p:txBody>
      </p:sp>
      <p:sp>
        <p:nvSpPr>
          <p:cNvPr id="14" name="">
            <a:extLst xmlns:a="http://schemas.openxmlformats.org/drawingml/2006/main">
              <a:ext uri="{FF2B5EF4-FFF2-40B4-BE49-F238E27FC236}">
                <a16:creationId xmlns:a16="http://schemas.microsoft.com/office/drawing/2014/main" id="{7B05CF0C-9278-4C93-BCAB-D0632D91534C}"/>
              </a:ext>
            </a:extLst>
          </p:cNvPr>
          <p:cNvSpPr>
            <a:spLocks xmlns:a="http://schemas.openxmlformats.org/drawingml/2006/main" noGrp="1"/>
          </p:cNvSpPr>
          <p:nvPr/>
        </p:nvSpPr>
        <p:spPr>
          <a:xfrm xmlns:a="http://schemas.openxmlformats.org/drawingml/2006/main">
            <a:off x="409575" y="4752975"/>
            <a:ext cx="8334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666666"/>
                </a:solidFill>
                <a:latin typeface="Arial"/>
                <a:ea typeface="Arial"/>
                <a:cs typeface="Arial"/>
              </a:defRPr>
            </a:defPPr>
            <a:lvl1pPr algn="l">
              <a:defRPr sz="1200" b="0">
                <a:solidFill>
                  <a:srgbClr val="666666"/>
                </a:solidFill>
                <a:latin typeface="Arial"/>
                <a:ea typeface="Arial"/>
                <a:cs typeface="Arial"/>
              </a:defRPr>
            </a:lvl1pPr>
            <a:lvl2pPr algn="l">
              <a:defRPr sz="1200" b="0">
                <a:solidFill>
                  <a:srgbClr val="666666"/>
                </a:solidFill>
                <a:latin typeface="Arial"/>
                <a:ea typeface="Arial"/>
                <a:cs typeface="Arial"/>
              </a:defRPr>
            </a:lvl2pPr>
            <a:lvl3pPr algn="l">
              <a:defRPr sz="1200" b="0">
                <a:solidFill>
                  <a:srgbClr val="666666"/>
                </a:solidFill>
                <a:latin typeface="Arial"/>
                <a:ea typeface="Arial"/>
                <a:cs typeface="Arial"/>
              </a:defRPr>
            </a:lvl3pPr>
            <a:lvl4pPr algn="l">
              <a:defRPr sz="1200" b="0">
                <a:solidFill>
                  <a:srgbClr val="666666"/>
                </a:solidFill>
                <a:latin typeface="Arial"/>
                <a:ea typeface="Arial"/>
                <a:cs typeface="Arial"/>
              </a:defRPr>
            </a:lvl4pPr>
            <a:lvl5pPr algn="l">
              <a:defRPr sz="1200" b="0">
                <a:solidFill>
                  <a:srgbClr val="666666"/>
                </a:solidFill>
                <a:latin typeface="Arial"/>
                <a:ea typeface="Arial"/>
                <a:cs typeface="Arial"/>
              </a:defRPr>
            </a:lvl5pPr>
            <a:lvl6pPr algn="l">
              <a:defRPr sz="1200" b="0">
                <a:solidFill>
                  <a:srgbClr val="666666"/>
                </a:solidFill>
                <a:latin typeface="Arial"/>
                <a:ea typeface="Arial"/>
                <a:cs typeface="Arial"/>
              </a:defRPr>
            </a:lvl6pPr>
            <a:lvl7pPr algn="l">
              <a:defRPr sz="1200" b="0">
                <a:solidFill>
                  <a:srgbClr val="666666"/>
                </a:solidFill>
                <a:latin typeface="Arial"/>
                <a:ea typeface="Arial"/>
                <a:cs typeface="Arial"/>
              </a:defRPr>
            </a:lvl7pPr>
            <a:lvl8pPr algn="l">
              <a:defRPr sz="1200" b="0">
                <a:solidFill>
                  <a:srgbClr val="666666"/>
                </a:solidFill>
                <a:latin typeface="Arial"/>
                <a:ea typeface="Arial"/>
                <a:cs typeface="Arial"/>
              </a:defRPr>
            </a:lvl8pPr>
            <a:lvl9pPr algn="l">
              <a:defRPr sz="1200" b="0">
                <a:solidFill>
                  <a:srgbClr val="666666"/>
                </a:solidFill>
                <a:latin typeface="Arial"/>
                <a:ea typeface="Arial"/>
                <a:cs typeface="Arial"/>
              </a:defRPr>
            </a:lvl9pPr>
          </a:lstStyle>
          <a:p xmlns:a="http://schemas.openxmlformats.org/drawingml/2006/main">
            <a:pPr algn="l">
              <a:defRPr sz="1200" b="0">
                <a:solidFill>
                  <a:srgbClr val="666666"/>
                </a:solidFill>
                <a:latin typeface="Arial"/>
                <a:ea typeface="Arial"/>
                <a:cs typeface="Arial"/>
              </a:defRPr>
            </a:pPr>
            <a:r>
              <a:rPr sz="1200" b="0">
                <a:solidFill>
                  <a:srgbClr val="666666"/>
                </a:solidFill>
                <a:latin typeface="Arial"/>
                <a:ea typeface="Arial"/>
                <a:cs typeface="Arial"/>
              </a:rPr>
              <a:t>Each worker receives text and launches one resource-limited scan container.</a:t>
            </a:r>
          </a:p>
          <a:p xmlns:a="http://schemas.openxmlformats.org/drawingml/2006/main">
            <a:pPr algn="l">
              <a:defRPr sz="1200" b="0">
                <a:solidFill>
                  <a:srgbClr val="666666"/>
                </a:solidFill>
                <a:latin typeface="Arial"/>
                <a:ea typeface="Arial"/>
                <a:cs typeface="Arial"/>
              </a:defRPr>
            </a:pPr>
            <a:r>
              <a:rPr sz="1200" b="0">
                <a:solidFill>
                  <a:srgbClr val="666666"/>
                </a:solidFill>
                <a:latin typeface="Arial"/>
                <a:ea typeface="Arial"/>
                <a:cs typeface="Arial"/>
              </a:rPr>
              <a:t>Supporting services on the bottom row serve both EC2 nodes.</a:t>
            </a:r>
          </a:p>
        </p:txBody>
      </p:sp>
    </p:spTree>
    <p:extLst>
      <p:ext uri="{BB962C8B-B14F-4D97-AF65-F5344CB8AC3E}">
        <p14:creationId xmlns:p14="http://schemas.microsoft.com/office/powerpoint/2010/main" val="82700813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055D6D5-065F-483B-A0AD-AED5A7D6B819}"/>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Data Flow</a:t>
            </a:r>
          </a:p>
        </p:txBody>
      </p:sp>
      <p:sp>
        <p:nvSpPr>
          <p:cNvPr id="3" name="">
            <a:extLst xmlns:a="http://schemas.openxmlformats.org/drawingml/2006/main">
              <a:ext uri="{FF2B5EF4-FFF2-40B4-BE49-F238E27FC236}">
                <a16:creationId xmlns:a16="http://schemas.microsoft.com/office/drawing/2014/main" id="{F7723B3F-104B-488E-903B-F6D5A0A3B0D6}"/>
              </a:ext>
            </a:extLst>
          </p:cNvPr>
          <p:cNvSpPr>
            <a:spLocks xmlns:a="http://schemas.openxmlformats.org/drawingml/2006/main" noGrp="1"/>
          </p:cNvSpPr>
          <p:nvPr/>
        </p:nvSpPr>
        <p:spPr>
          <a:xfrm xmlns:a="http://schemas.openxmlformats.org/drawingml/2006/main">
            <a:off x="514350" y="1247775"/>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1. GitHub submits the exact PR commit</a:t>
            </a:r>
          </a:p>
        </p:txBody>
      </p:sp>
      <p:sp>
        <p:nvSpPr>
          <p:cNvPr id="4" name="">
            <a:extLst xmlns:a="http://schemas.openxmlformats.org/drawingml/2006/main">
              <a:ext uri="{FF2B5EF4-FFF2-40B4-BE49-F238E27FC236}">
                <a16:creationId xmlns:a16="http://schemas.microsoft.com/office/drawing/2014/main" id="{934E5144-731F-477F-8DC0-CED9A54E9A4F}"/>
              </a:ext>
            </a:extLst>
          </p:cNvPr>
          <p:cNvSpPr>
            <a:spLocks xmlns:a="http://schemas.openxmlformats.org/drawingml/2006/main" noGrp="1"/>
          </p:cNvSpPr>
          <p:nvPr/>
        </p:nvSpPr>
        <p:spPr>
          <a:xfrm xmlns:a="http://schemas.openxmlformats.org/drawingml/2006/main">
            <a:off x="685800" y="1514475"/>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Authenticated POST /scan-jobs includes bounded files and an idempotency key.</a:t>
            </a:r>
          </a:p>
        </p:txBody>
      </p:sp>
      <p:sp>
        <p:nvSpPr>
          <p:cNvPr id="5" name="">
            <a:extLst xmlns:a="http://schemas.openxmlformats.org/drawingml/2006/main">
              <a:ext uri="{FF2B5EF4-FFF2-40B4-BE49-F238E27FC236}">
                <a16:creationId xmlns:a16="http://schemas.microsoft.com/office/drawing/2014/main" id="{51D4B551-8A9D-4730-8C9D-4E37F55A5D88}"/>
              </a:ext>
            </a:extLst>
          </p:cNvPr>
          <p:cNvSpPr>
            <a:spLocks xmlns:a="http://schemas.openxmlformats.org/drawingml/2006/main" noGrp="1"/>
          </p:cNvSpPr>
          <p:nvPr/>
        </p:nvSpPr>
        <p:spPr>
          <a:xfrm xmlns:a="http://schemas.openxmlformats.org/drawingml/2006/main">
            <a:off x="514350" y="1828800"/>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2. API persists the input and queues the job</a:t>
            </a:r>
          </a:p>
        </p:txBody>
      </p:sp>
      <p:sp>
        <p:nvSpPr>
          <p:cNvPr id="6" name="">
            <a:extLst xmlns:a="http://schemas.openxmlformats.org/drawingml/2006/main">
              <a:ext uri="{FF2B5EF4-FFF2-40B4-BE49-F238E27FC236}">
                <a16:creationId xmlns:a16="http://schemas.microsoft.com/office/drawing/2014/main" id="{FF4B589E-198D-4B70-95EC-1B487912A59C}"/>
              </a:ext>
            </a:extLst>
          </p:cNvPr>
          <p:cNvSpPr>
            <a:spLocks xmlns:a="http://schemas.openxmlformats.org/drawingml/2006/main" noGrp="1"/>
          </p:cNvSpPr>
          <p:nvPr/>
        </p:nvSpPr>
        <p:spPr>
          <a:xfrm xmlns:a="http://schemas.openxmlformats.org/drawingml/2006/main">
            <a:off x="685800" y="2095500"/>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S3 holds temporary source. DynamoDB tracks the job. SQS accepts its job ID.</a:t>
            </a:r>
          </a:p>
        </p:txBody>
      </p:sp>
      <p:sp>
        <p:nvSpPr>
          <p:cNvPr id="7" name="">
            <a:extLst xmlns:a="http://schemas.openxmlformats.org/drawingml/2006/main">
              <a:ext uri="{FF2B5EF4-FFF2-40B4-BE49-F238E27FC236}">
                <a16:creationId xmlns:a16="http://schemas.microsoft.com/office/drawing/2014/main" id="{3A5F5034-D0A2-4E1F-8876-5921CD4698B9}"/>
              </a:ext>
            </a:extLst>
          </p:cNvPr>
          <p:cNvSpPr>
            <a:spLocks xmlns:a="http://schemas.openxmlformats.org/drawingml/2006/main" noGrp="1"/>
          </p:cNvSpPr>
          <p:nvPr/>
        </p:nvSpPr>
        <p:spPr>
          <a:xfrm xmlns:a="http://schemas.openxmlformats.org/drawingml/2006/main">
            <a:off x="514350" y="2409825"/>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3. API returns HTTP 202 with a scan ID</a:t>
            </a:r>
          </a:p>
        </p:txBody>
      </p:sp>
      <p:sp>
        <p:nvSpPr>
          <p:cNvPr id="8" name="">
            <a:extLst xmlns:a="http://schemas.openxmlformats.org/drawingml/2006/main">
              <a:ext uri="{FF2B5EF4-FFF2-40B4-BE49-F238E27FC236}">
                <a16:creationId xmlns:a16="http://schemas.microsoft.com/office/drawing/2014/main" id="{0ADD6FB7-F32B-43D3-8ECC-2A36471B4F84}"/>
              </a:ext>
            </a:extLst>
          </p:cNvPr>
          <p:cNvSpPr>
            <a:spLocks xmlns:a="http://schemas.openxmlformats.org/drawingml/2006/main" noGrp="1"/>
          </p:cNvSpPr>
          <p:nvPr/>
        </p:nvSpPr>
        <p:spPr>
          <a:xfrm xmlns:a="http://schemas.openxmlformats.org/drawingml/2006/main">
            <a:off x="685800" y="2676525"/>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GitHub shows Queued and polls status. Busy workers do not cause HTTP 429.</a:t>
            </a:r>
          </a:p>
        </p:txBody>
      </p:sp>
      <p:sp>
        <p:nvSpPr>
          <p:cNvPr id="9" name="">
            <a:extLst xmlns:a="http://schemas.openxmlformats.org/drawingml/2006/main">
              <a:ext uri="{FF2B5EF4-FFF2-40B4-BE49-F238E27FC236}">
                <a16:creationId xmlns:a16="http://schemas.microsoft.com/office/drawing/2014/main" id="{F8062606-39BB-4B4D-B5AD-94B136CB9B90}"/>
              </a:ext>
            </a:extLst>
          </p:cNvPr>
          <p:cNvSpPr>
            <a:spLocks xmlns:a="http://schemas.openxmlformats.org/drawingml/2006/main" noGrp="1"/>
          </p:cNvSpPr>
          <p:nvPr/>
        </p:nvSpPr>
        <p:spPr>
          <a:xfrm xmlns:a="http://schemas.openxmlformats.org/drawingml/2006/main">
            <a:off x="514350" y="2990850"/>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4. A worker claims the job and runs the sandbox</a:t>
            </a:r>
          </a:p>
        </p:txBody>
      </p:sp>
      <p:sp>
        <p:nvSpPr>
          <p:cNvPr id="10" name="">
            <a:extLst xmlns:a="http://schemas.openxmlformats.org/drawingml/2006/main">
              <a:ext uri="{FF2B5EF4-FFF2-40B4-BE49-F238E27FC236}">
                <a16:creationId xmlns:a16="http://schemas.microsoft.com/office/drawing/2014/main" id="{5DFE05CF-981D-4EE5-B64F-2A1837B1CA95}"/>
              </a:ext>
            </a:extLst>
          </p:cNvPr>
          <p:cNvSpPr>
            <a:spLocks xmlns:a="http://schemas.openxmlformats.org/drawingml/2006/main" noGrp="1"/>
          </p:cNvSpPr>
          <p:nvPr/>
        </p:nvSpPr>
        <p:spPr>
          <a:xfrm xmlns:a="http://schemas.openxmlformats.org/drawingml/2006/main">
            <a:off x="685800" y="3257550"/>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One bounded container scans text. The supervisor enforces its deadline.</a:t>
            </a:r>
          </a:p>
        </p:txBody>
      </p:sp>
      <p:sp>
        <p:nvSpPr>
          <p:cNvPr id="11" name="">
            <a:extLst xmlns:a="http://schemas.openxmlformats.org/drawingml/2006/main">
              <a:ext uri="{FF2B5EF4-FFF2-40B4-BE49-F238E27FC236}">
                <a16:creationId xmlns:a16="http://schemas.microsoft.com/office/drawing/2014/main" id="{7A2A036E-D7A5-4F02-9D71-5F8199F04A63}"/>
              </a:ext>
            </a:extLst>
          </p:cNvPr>
          <p:cNvSpPr>
            <a:spLocks xmlns:a="http://schemas.openxmlformats.org/drawingml/2006/main" noGrp="1"/>
          </p:cNvSpPr>
          <p:nvPr/>
        </p:nvSpPr>
        <p:spPr>
          <a:xfrm xmlns:a="http://schemas.openxmlformats.org/drawingml/2006/main">
            <a:off x="514350" y="3571875"/>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5. Supervisor saves a redacted result</a:t>
            </a:r>
          </a:p>
        </p:txBody>
      </p:sp>
      <p:sp>
        <p:nvSpPr>
          <p:cNvPr id="12" name="">
            <a:extLst xmlns:a="http://schemas.openxmlformats.org/drawingml/2006/main">
              <a:ext uri="{FF2B5EF4-FFF2-40B4-BE49-F238E27FC236}">
                <a16:creationId xmlns:a16="http://schemas.microsoft.com/office/drawing/2014/main" id="{CF23C502-CC55-4F0D-81C6-713B4C3CB9F4}"/>
              </a:ext>
            </a:extLst>
          </p:cNvPr>
          <p:cNvSpPr>
            <a:spLocks xmlns:a="http://schemas.openxmlformats.org/drawingml/2006/main" noGrp="1"/>
          </p:cNvSpPr>
          <p:nvPr/>
        </p:nvSpPr>
        <p:spPr>
          <a:xfrm xmlns:a="http://schemas.openxmlformats.org/drawingml/2006/main">
            <a:off x="685800" y="3838575"/>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Write S3 report, commit DynamoDB result, then acknowledge the queue message.</a:t>
            </a:r>
          </a:p>
        </p:txBody>
      </p:sp>
      <p:sp>
        <p:nvSpPr>
          <p:cNvPr id="13" name="">
            <a:extLst xmlns:a="http://schemas.openxmlformats.org/drawingml/2006/main">
              <a:ext uri="{FF2B5EF4-FFF2-40B4-BE49-F238E27FC236}">
                <a16:creationId xmlns:a16="http://schemas.microsoft.com/office/drawing/2014/main" id="{2700820E-A7AD-42E5-8F04-EE56FC4FDA01}"/>
              </a:ext>
            </a:extLst>
          </p:cNvPr>
          <p:cNvSpPr>
            <a:spLocks xmlns:a="http://schemas.openxmlformats.org/drawingml/2006/main" noGrp="1"/>
          </p:cNvSpPr>
          <p:nvPr/>
        </p:nvSpPr>
        <p:spPr>
          <a:xfrm xmlns:a="http://schemas.openxmlformats.org/drawingml/2006/main">
            <a:off x="514350" y="4152900"/>
            <a:ext cx="81153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666666"/>
                </a:solidFill>
                <a:latin typeface="Arial"/>
                <a:ea typeface="Arial"/>
                <a:cs typeface="Arial"/>
              </a:defRPr>
            </a:defPPr>
            <a:lvl1pPr algn="l">
              <a:defRPr sz="1575" b="1">
                <a:solidFill>
                  <a:srgbClr val="666666"/>
                </a:solidFill>
                <a:latin typeface="Arial"/>
                <a:ea typeface="Arial"/>
                <a:cs typeface="Arial"/>
              </a:defRPr>
            </a:lvl1pPr>
            <a:lvl2pPr algn="l">
              <a:defRPr sz="1575" b="1">
                <a:solidFill>
                  <a:srgbClr val="666666"/>
                </a:solidFill>
                <a:latin typeface="Arial"/>
                <a:ea typeface="Arial"/>
                <a:cs typeface="Arial"/>
              </a:defRPr>
            </a:lvl2pPr>
            <a:lvl3pPr algn="l">
              <a:defRPr sz="1575" b="1">
                <a:solidFill>
                  <a:srgbClr val="666666"/>
                </a:solidFill>
                <a:latin typeface="Arial"/>
                <a:ea typeface="Arial"/>
                <a:cs typeface="Arial"/>
              </a:defRPr>
            </a:lvl3pPr>
            <a:lvl4pPr algn="l">
              <a:defRPr sz="1575" b="1">
                <a:solidFill>
                  <a:srgbClr val="666666"/>
                </a:solidFill>
                <a:latin typeface="Arial"/>
                <a:ea typeface="Arial"/>
                <a:cs typeface="Arial"/>
              </a:defRPr>
            </a:lvl4pPr>
            <a:lvl5pPr algn="l">
              <a:defRPr sz="1575" b="1">
                <a:solidFill>
                  <a:srgbClr val="666666"/>
                </a:solidFill>
                <a:latin typeface="Arial"/>
                <a:ea typeface="Arial"/>
                <a:cs typeface="Arial"/>
              </a:defRPr>
            </a:lvl5pPr>
            <a:lvl6pPr algn="l">
              <a:defRPr sz="1575" b="1">
                <a:solidFill>
                  <a:srgbClr val="666666"/>
                </a:solidFill>
                <a:latin typeface="Arial"/>
                <a:ea typeface="Arial"/>
                <a:cs typeface="Arial"/>
              </a:defRPr>
            </a:lvl6pPr>
            <a:lvl7pPr algn="l">
              <a:defRPr sz="1575" b="1">
                <a:solidFill>
                  <a:srgbClr val="666666"/>
                </a:solidFill>
                <a:latin typeface="Arial"/>
                <a:ea typeface="Arial"/>
                <a:cs typeface="Arial"/>
              </a:defRPr>
            </a:lvl7pPr>
            <a:lvl8pPr algn="l">
              <a:defRPr sz="1575" b="1">
                <a:solidFill>
                  <a:srgbClr val="666666"/>
                </a:solidFill>
                <a:latin typeface="Arial"/>
                <a:ea typeface="Arial"/>
                <a:cs typeface="Arial"/>
              </a:defRPr>
            </a:lvl8pPr>
            <a:lvl9pPr algn="l">
              <a:defRPr sz="1575" b="1">
                <a:solidFill>
                  <a:srgbClr val="666666"/>
                </a:solidFill>
                <a:latin typeface="Arial"/>
                <a:ea typeface="Arial"/>
                <a:cs typeface="Arial"/>
              </a:defRPr>
            </a:lvl9pPr>
          </a:lstStyle>
          <a:p xmlns:a="http://schemas.openxmlformats.org/drawingml/2006/main">
            <a:pPr algn="l">
              <a:defRPr sz="1575" b="1">
                <a:solidFill>
                  <a:srgbClr val="666666"/>
                </a:solidFill>
                <a:latin typeface="Arial"/>
                <a:ea typeface="Arial"/>
                <a:cs typeface="Arial"/>
              </a:defRPr>
            </a:pPr>
            <a:r>
              <a:rPr sz="1575" b="1">
                <a:solidFill>
                  <a:srgbClr val="666666"/>
                </a:solidFill>
                <a:latin typeface="Arial"/>
                <a:ea typeface="Arial"/>
                <a:cs typeface="Arial"/>
              </a:rPr>
              <a:t>6. Workflow completes the required check</a:t>
            </a:r>
          </a:p>
        </p:txBody>
      </p:sp>
      <p:sp>
        <p:nvSpPr>
          <p:cNvPr id="14" name="">
            <a:extLst xmlns:a="http://schemas.openxmlformats.org/drawingml/2006/main">
              <a:ext uri="{FF2B5EF4-FFF2-40B4-BE49-F238E27FC236}">
                <a16:creationId xmlns:a16="http://schemas.microsoft.com/office/drawing/2014/main" id="{DDF725B4-3F8D-4145-8BFE-BB6D33C0D99F}"/>
              </a:ext>
            </a:extLst>
          </p:cNvPr>
          <p:cNvSpPr>
            <a:spLocks xmlns:a="http://schemas.openxmlformats.org/drawingml/2006/main" noGrp="1"/>
          </p:cNvSpPr>
          <p:nvPr/>
        </p:nvSpPr>
        <p:spPr>
          <a:xfrm xmlns:a="http://schemas.openxmlformats.org/drawingml/2006/main">
            <a:off x="685800" y="4419600"/>
            <a:ext cx="7943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Show findings / report link. Bind the outcome to the exact commit SHA.</a:t>
            </a:r>
          </a:p>
        </p:txBody>
      </p:sp>
    </p:spTree>
    <p:extLst>
      <p:ext uri="{BB962C8B-B14F-4D97-AF65-F5344CB8AC3E}">
        <p14:creationId xmlns:p14="http://schemas.microsoft.com/office/powerpoint/2010/main" val="18432556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6E2093C-016C-468F-82D6-982D6A83F3D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AWS Services and Responsibilities</a:t>
            </a:r>
          </a:p>
        </p:txBody>
      </p:sp>
      <p:sp>
        <p:nvSpPr>
          <p:cNvPr id="3" name="">
            <a:extLst xmlns:a="http://schemas.openxmlformats.org/drawingml/2006/main">
              <a:ext uri="{FF2B5EF4-FFF2-40B4-BE49-F238E27FC236}">
                <a16:creationId xmlns:a16="http://schemas.microsoft.com/office/drawing/2014/main" id="{EC282560-ADC6-4977-93D4-31F8C86004DD}"/>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Request and compute</a:t>
            </a:r>
          </a:p>
        </p:txBody>
      </p:sp>
      <p:sp>
        <p:nvSpPr>
          <p:cNvPr id="4" name="">
            <a:extLst xmlns:a="http://schemas.openxmlformats.org/drawingml/2006/main">
              <a:ext uri="{FF2B5EF4-FFF2-40B4-BE49-F238E27FC236}">
                <a16:creationId xmlns:a16="http://schemas.microsoft.com/office/drawing/2014/main" id="{B9648BF9-97FC-4824-8CE9-AAA3ABFA89FA}"/>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ALB terminates HTTPS and routes only to healthy API targets.</a:t>
            </a:r>
          </a:p>
          <a:p xmlns:a="http://schemas.openxmlformats.org/drawingml/2006/main">
            <a:pPr marL="228600" indent="-114300" algn="l">
              <a:spcAft>
                <a:spcPts val="900"/>
              </a:spcAft>
              <a:buChar char="•"/>
              <a:defRPr sz="1500" b="0">
                <a:solidFill>
                  <a:srgbClr val="666666"/>
                </a:solidFill>
                <a:latin typeface="Arial"/>
                <a:ea typeface="Arial"/>
                <a:cs typeface="Arial"/>
              </a:defRPr>
            </a:pPr>
            <a:r>
              <a:t>Auto Scaling maintains two private EC2 nodes. Each runs an API and worker supervisor.</a:t>
            </a:r>
          </a:p>
          <a:p xmlns:a="http://schemas.openxmlformats.org/drawingml/2006/main">
            <a:pPr marL="228600" indent="-114300" algn="l">
              <a:spcAft>
                <a:spcPts val="900"/>
              </a:spcAft>
              <a:buChar char="•"/>
              <a:defRPr sz="1500" b="0">
                <a:solidFill>
                  <a:srgbClr val="666666"/>
                </a:solidFill>
                <a:latin typeface="Arial"/>
                <a:ea typeface="Arial"/>
                <a:cs typeface="Arial"/>
              </a:defRPr>
            </a:pPr>
            <a:r>
              <a:t>ECR stores the tested, digest-pinned scanner image.</a:t>
            </a:r>
          </a:p>
        </p:txBody>
      </p:sp>
      <p:sp>
        <p:nvSpPr>
          <p:cNvPr id="5" name="">
            <a:extLst xmlns:a="http://schemas.openxmlformats.org/drawingml/2006/main">
              <a:ext uri="{FF2B5EF4-FFF2-40B4-BE49-F238E27FC236}">
                <a16:creationId xmlns:a16="http://schemas.microsoft.com/office/drawing/2014/main" id="{B16E7EC2-1268-4A3F-BD4C-8B6EBEEE68D1}"/>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State and operations</a:t>
            </a:r>
          </a:p>
        </p:txBody>
      </p:sp>
      <p:sp>
        <p:nvSpPr>
          <p:cNvPr id="6" name="">
            <a:extLst xmlns:a="http://schemas.openxmlformats.org/drawingml/2006/main">
              <a:ext uri="{FF2B5EF4-FFF2-40B4-BE49-F238E27FC236}">
                <a16:creationId xmlns:a16="http://schemas.microsoft.com/office/drawing/2014/main" id="{E6730E20-BDC4-4E45-8DAE-BAAEF24C740F}"/>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SQS absorbs bursts. A dead-letter queue holds repeated processing failures.</a:t>
            </a:r>
          </a:p>
          <a:p xmlns:a="http://schemas.openxmlformats.org/drawingml/2006/main">
            <a:pPr marL="228600" indent="-114300" algn="l">
              <a:spcAft>
                <a:spcPts val="900"/>
              </a:spcAft>
              <a:buChar char="•"/>
              <a:defRPr sz="1500" b="0">
                <a:solidFill>
                  <a:srgbClr val="666666"/>
                </a:solidFill>
                <a:latin typeface="Arial"/>
                <a:ea typeface="Arial"/>
                <a:cs typeface="Arial"/>
              </a:defRPr>
            </a:pPr>
            <a:r>
              <a:t>DynamoDB stores status, idempotency records, and worker leases. S3 stores artifacts.</a:t>
            </a:r>
          </a:p>
          <a:p xmlns:a="http://schemas.openxmlformats.org/drawingml/2006/main">
            <a:pPr marL="228600" indent="-114300" algn="l">
              <a:spcAft>
                <a:spcPts val="900"/>
              </a:spcAft>
              <a:buChar char="•"/>
              <a:defRPr sz="1500" b="0">
                <a:solidFill>
                  <a:srgbClr val="666666"/>
                </a:solidFill>
                <a:latin typeface="Arial"/>
                <a:ea typeface="Arial"/>
                <a:cs typeface="Arial"/>
              </a:defRPr>
            </a:pPr>
            <a:r>
              <a:t>Parameter Store holds verifier configuration. CloudWatch and SNS expose failures.</a:t>
            </a:r>
          </a:p>
        </p:txBody>
      </p:sp>
      <p:sp>
        <p:nvSpPr>
          <p:cNvPr id="7" name="">
            <a:extLst xmlns:a="http://schemas.openxmlformats.org/drawingml/2006/main">
              <a:ext uri="{FF2B5EF4-FFF2-40B4-BE49-F238E27FC236}">
                <a16:creationId xmlns:a16="http://schemas.microsoft.com/office/drawing/2014/main" id="{022092D1-910A-4AD0-A14F-492E17234CBC}"/>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Terraform defines these resources. Two AZs use separate outbound paths.</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One codebase contains distinct API, supervisor, and scanner components.</a:t>
            </a:r>
          </a:p>
        </p:txBody>
      </p:sp>
    </p:spTree>
    <p:extLst>
      <p:ext uri="{BB962C8B-B14F-4D97-AF65-F5344CB8AC3E}">
        <p14:creationId xmlns:p14="http://schemas.microsoft.com/office/powerpoint/2010/main" val="2497010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2D7C61B-F632-4DB8-A1B4-5EDACBD574FE}"/>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Original Demo and Supporting Checks</a:t>
            </a:r>
          </a:p>
        </p:txBody>
      </p:sp>
      <p:sp>
        <p:nvSpPr>
          <p:cNvPr id="3" name="">
            <a:extLst xmlns:a="http://schemas.openxmlformats.org/drawingml/2006/main">
              <a:ext uri="{FF2B5EF4-FFF2-40B4-BE49-F238E27FC236}">
                <a16:creationId xmlns:a16="http://schemas.microsoft.com/office/drawing/2014/main" id="{F8E13988-D781-43C1-84A1-E523D209C22E}"/>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Unchanged final project demo</a:t>
            </a:r>
          </a:p>
        </p:txBody>
      </p:sp>
      <p:sp>
        <p:nvSpPr>
          <p:cNvPr id="4" name="">
            <a:extLst xmlns:a="http://schemas.openxmlformats.org/drawingml/2006/main">
              <a:ext uri="{FF2B5EF4-FFF2-40B4-BE49-F238E27FC236}">
                <a16:creationId xmlns:a16="http://schemas.microsoft.com/office/drawing/2014/main" id="{55C5EEAA-CC2A-4423-BD34-DB3FABA871A3}"/>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Open a JavaScript PR with a HIGH issue. Its required check fails.</a:t>
            </a:r>
          </a:p>
          <a:p xmlns:a="http://schemas.openxmlformats.org/drawingml/2006/main">
            <a:pPr marL="228600" indent="-114300" algn="l">
              <a:spcAft>
                <a:spcPts val="900"/>
              </a:spcAft>
              <a:buChar char="•"/>
              <a:defRPr sz="1500" b="0">
                <a:solidFill>
                  <a:srgbClr val="666666"/>
                </a:solidFill>
                <a:latin typeface="Arial"/>
                <a:ea typeface="Arial"/>
                <a:cs typeface="Arial"/>
              </a:defRPr>
            </a:pPr>
            <a:r>
              <a:t>Push corrected code. The new commit passes after a complete scan.</a:t>
            </a:r>
          </a:p>
          <a:p xmlns:a="http://schemas.openxmlformats.org/drawingml/2006/main">
            <a:pPr marL="228600" indent="-114300" algn="l">
              <a:spcAft>
                <a:spcPts val="900"/>
              </a:spcAft>
              <a:buChar char="•"/>
              <a:defRPr sz="1500" b="0">
                <a:solidFill>
                  <a:srgbClr val="666666"/>
                </a:solidFill>
                <a:latin typeface="Arial"/>
                <a:ea typeface="Arial"/>
                <a:cs typeface="Arial"/>
              </a:defRPr>
            </a:pPr>
            <a:r>
              <a:t>Open the saved, redacted S3 report through an expiring link.</a:t>
            </a:r>
          </a:p>
          <a:p xmlns:a="http://schemas.openxmlformats.org/drawingml/2006/main">
            <a:pPr marL="228600" indent="-114300" algn="l">
              <a:spcAft>
                <a:spcPts val="900"/>
              </a:spcAft>
              <a:buChar char="•"/>
              <a:defRPr sz="1500" b="0">
                <a:solidFill>
                  <a:srgbClr val="666666"/>
                </a:solidFill>
                <a:latin typeface="Arial"/>
                <a:ea typeface="Arial"/>
                <a:cs typeface="Arial"/>
              </a:defRPr>
            </a:pPr>
            <a:r>
              <a:t>Demonstrate that an incomplete scan cannot pass.</a:t>
            </a:r>
          </a:p>
        </p:txBody>
      </p:sp>
      <p:sp>
        <p:nvSpPr>
          <p:cNvPr id="5" name="">
            <a:extLst xmlns:a="http://schemas.openxmlformats.org/drawingml/2006/main">
              <a:ext uri="{FF2B5EF4-FFF2-40B4-BE49-F238E27FC236}">
                <a16:creationId xmlns:a16="http://schemas.microsoft.com/office/drawing/2014/main" id="{84D41C56-A05B-4A72-9EF1-69A378E982F2}"/>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Feedback-driven verification</a:t>
            </a:r>
          </a:p>
        </p:txBody>
      </p:sp>
      <p:sp>
        <p:nvSpPr>
          <p:cNvPr id="6" name="">
            <a:extLst xmlns:a="http://schemas.openxmlformats.org/drawingml/2006/main">
              <a:ext uri="{FF2B5EF4-FFF2-40B4-BE49-F238E27FC236}">
                <a16:creationId xmlns:a16="http://schemas.microsoft.com/office/drawing/2014/main" id="{26388D98-4D32-4117-AECD-C658A55532D1}"/>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Verify failover and queue handling when developers push together.</a:t>
            </a:r>
          </a:p>
          <a:p xmlns:a="http://schemas.openxmlformats.org/drawingml/2006/main">
            <a:pPr marL="228600" indent="-114300" algn="l">
              <a:spcAft>
                <a:spcPts val="900"/>
              </a:spcAft>
              <a:buChar char="•"/>
              <a:defRPr sz="1500" b="0">
                <a:solidFill>
                  <a:srgbClr val="666666"/>
                </a:solidFill>
                <a:latin typeface="Arial"/>
                <a:ea typeface="Arial"/>
                <a:cs typeface="Arial"/>
              </a:defRPr>
            </a:pPr>
            <a:r>
              <a:t>Verify endpoint authentication, token rotation, and shared Terraform state.</a:t>
            </a:r>
          </a:p>
          <a:p xmlns:a="http://schemas.openxmlformats.org/drawingml/2006/main">
            <a:pPr marL="228600" indent="-114300" algn="l">
              <a:spcAft>
                <a:spcPts val="900"/>
              </a:spcAft>
              <a:buChar char="•"/>
              <a:defRPr sz="1500" b="0">
                <a:solidFill>
                  <a:srgbClr val="666666"/>
                </a:solidFill>
                <a:latin typeface="Arial"/>
                <a:ea typeface="Arial"/>
                <a:cs typeface="Arial"/>
              </a:defRPr>
            </a:pPr>
            <a:r>
              <a:t>Retain sandbox limits and test the existing scanner / report behavior.</a:t>
            </a:r>
          </a:p>
        </p:txBody>
      </p:sp>
      <p:sp>
        <p:nvSpPr>
          <p:cNvPr id="7" name="">
            <a:extLst xmlns:a="http://schemas.openxmlformats.org/drawingml/2006/main">
              <a:ext uri="{FF2B5EF4-FFF2-40B4-BE49-F238E27FC236}">
                <a16:creationId xmlns:a16="http://schemas.microsoft.com/office/drawing/2014/main" id="{3C43609B-2105-4E4E-AD0E-45C5DC579B9C}"/>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Same deliverable: A GitHub SAST security gate running in AWS Academy Learner Lab.</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Supporting checks validate deployment changes. They do not add new product features.</a:t>
            </a:r>
          </a:p>
        </p:txBody>
      </p:sp>
    </p:spTree>
    <p:extLst>
      <p:ext uri="{BB962C8B-B14F-4D97-AF65-F5344CB8AC3E}">
        <p14:creationId xmlns:p14="http://schemas.microsoft.com/office/powerpoint/2010/main" val="752617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C9C963B-20D8-4958-9767-649DA1A52AD8}"/>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Data Storage and Retention</a:t>
            </a:r>
          </a:p>
        </p:txBody>
      </p:sp>
      <p:sp>
        <p:nvSpPr>
          <p:cNvPr id="3" name="">
            <a:extLst xmlns:a="http://schemas.openxmlformats.org/drawingml/2006/main">
              <a:ext uri="{FF2B5EF4-FFF2-40B4-BE49-F238E27FC236}">
                <a16:creationId xmlns:a16="http://schemas.microsoft.com/office/drawing/2014/main" id="{2F3A3DD6-E66E-4D62-BFCA-D811B09CE249}"/>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Application data</a:t>
            </a:r>
          </a:p>
        </p:txBody>
      </p:sp>
      <p:sp>
        <p:nvSpPr>
          <p:cNvPr id="4" name="">
            <a:extLst xmlns:a="http://schemas.openxmlformats.org/drawingml/2006/main">
              <a:ext uri="{FF2B5EF4-FFF2-40B4-BE49-F238E27FC236}">
                <a16:creationId xmlns:a16="http://schemas.microsoft.com/office/drawing/2014/main" id="{9AE4B9E1-E8AC-4F9B-A890-962008E19181}"/>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S3 input bucket: encrypted source manifest for queued scans. Delete after a terminal result.</a:t>
            </a:r>
          </a:p>
          <a:p xmlns:a="http://schemas.openxmlformats.org/drawingml/2006/main">
            <a:pPr marL="228600" indent="-114300" algn="l">
              <a:spcAft>
                <a:spcPts val="900"/>
              </a:spcAft>
              <a:buChar char="•"/>
              <a:defRPr sz="1500" b="0">
                <a:solidFill>
                  <a:srgbClr val="666666"/>
                </a:solidFill>
                <a:latin typeface="Arial"/>
                <a:ea typeface="Arial"/>
                <a:cs typeface="Arial"/>
              </a:defRPr>
            </a:pPr>
            <a:r>
              <a:t>S3 report bucket: sanitized findings and immutable attempt reports for 30 days.</a:t>
            </a:r>
          </a:p>
          <a:p xmlns:a="http://schemas.openxmlformats.org/drawingml/2006/main">
            <a:pPr marL="228600" indent="-114300" algn="l">
              <a:spcAft>
                <a:spcPts val="900"/>
              </a:spcAft>
              <a:buChar char="•"/>
              <a:defRPr sz="1500" b="0">
                <a:solidFill>
                  <a:srgbClr val="666666"/>
                </a:solidFill>
                <a:latin typeface="Arial"/>
                <a:ea typeface="Arial"/>
                <a:cs typeface="Arial"/>
              </a:defRPr>
            </a:pPr>
            <a:r>
              <a:t>DynamoDB: job status, SHA, versions, lease owner, report pointer, and expiry.</a:t>
            </a:r>
          </a:p>
        </p:txBody>
      </p:sp>
      <p:sp>
        <p:nvSpPr>
          <p:cNvPr id="5" name="">
            <a:extLst xmlns:a="http://schemas.openxmlformats.org/drawingml/2006/main">
              <a:ext uri="{FF2B5EF4-FFF2-40B4-BE49-F238E27FC236}">
                <a16:creationId xmlns:a16="http://schemas.microsoft.com/office/drawing/2014/main" id="{7E74687A-DDEC-4D3F-A54E-E4491D072898}"/>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Recovery and privacy</a:t>
            </a:r>
          </a:p>
        </p:txBody>
      </p:sp>
      <p:sp>
        <p:nvSpPr>
          <p:cNvPr id="6" name="">
            <a:extLst xmlns:a="http://schemas.openxmlformats.org/drawingml/2006/main">
              <a:ext uri="{FF2B5EF4-FFF2-40B4-BE49-F238E27FC236}">
                <a16:creationId xmlns:a16="http://schemas.microsoft.com/office/drawing/2014/main" id="{F61A4658-3917-4C28-AD09-612DE12F922B}"/>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Abandoned source expires by a 1-day lifecycle rule. Deletion is asynchronous.</a:t>
            </a:r>
          </a:p>
          <a:p xmlns:a="http://schemas.openxmlformats.org/drawingml/2006/main">
            <a:pPr marL="228600" indent="-114300" algn="l">
              <a:spcAft>
                <a:spcPts val="900"/>
              </a:spcAft>
              <a:buChar char="•"/>
              <a:defRPr sz="1500" b="0">
                <a:solidFill>
                  <a:srgbClr val="666666"/>
                </a:solidFill>
                <a:latin typeface="Arial"/>
                <a:ea typeface="Arial"/>
                <a:cs typeface="Arial"/>
              </a:defRPr>
            </a:pPr>
            <a:r>
              <a:t>Report versioning supports overwrite recovery. Noncurrent versions expire after 7 days.</a:t>
            </a:r>
          </a:p>
          <a:p xmlns:a="http://schemas.openxmlformats.org/drawingml/2006/main">
            <a:pPr marL="228600" indent="-114300" algn="l">
              <a:spcAft>
                <a:spcPts val="900"/>
              </a:spcAft>
              <a:buChar char="•"/>
              <a:defRPr sz="1500" b="0">
                <a:solidFill>
                  <a:srgbClr val="666666"/>
                </a:solidFill>
                <a:latin typeface="Arial"/>
                <a:ea typeface="Arial"/>
                <a:cs typeface="Arial"/>
              </a:defRPr>
            </a:pPr>
            <a:r>
              <a:t>Logs expire after 14 days. State bucket has separate retention and access rules.</a:t>
            </a:r>
          </a:p>
        </p:txBody>
      </p:sp>
      <p:sp>
        <p:nvSpPr>
          <p:cNvPr id="7" name="">
            <a:extLst xmlns:a="http://schemas.openxmlformats.org/drawingml/2006/main">
              <a:ext uri="{FF2B5EF4-FFF2-40B4-BE49-F238E27FC236}">
                <a16:creationId xmlns:a16="http://schemas.microsoft.com/office/drawing/2014/main" id="{70A64B57-3724-40DE-AAEF-A9A49C5B5CCA}"/>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This replaces the earlier “no source persistence” claim: queued scans need temporary inputs.</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Never persist raw secret evidence, bearer tokens, or credentials in reports or logs.</a:t>
            </a:r>
          </a:p>
        </p:txBody>
      </p:sp>
    </p:spTree>
    <p:extLst>
      <p:ext uri="{BB962C8B-B14F-4D97-AF65-F5344CB8AC3E}">
        <p14:creationId xmlns:p14="http://schemas.microsoft.com/office/powerpoint/2010/main" val="106496293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B3BA4543-DCFC-48D2-A74B-5A570B708B18}"/>
              </a:ext>
            </a:extLst>
          </p:cNvPr>
          <p:cNvCxnSpPr>
            <a:stCxn xmlns:a="http://schemas.openxmlformats.org/drawingml/2006/main" id="7" idx="2"/>
            <a:endCxn xmlns:a="http://schemas.openxmlformats.org/drawingml/2006/main" id="9" idx="0"/>
          </p:cNvCxnSpPr>
          <p:nvPr/>
        </p:nvCxnSpPr>
        <p:spPr>
          <a:xfrm xmlns:a="http://schemas.openxmlformats.org/drawingml/2006/main">
            <a:off x="6238875" y="1876425"/>
            <a:ext cx="642938" cy="628650"/>
          </a:xfrm>
          <a:prstGeom xmlns:a="http://schemas.openxmlformats.org/drawingml/2006/main" prst="bentConnector4">
            <a:avLst>
              <a:gd name="adj1" fmla="val 0"/>
              <a:gd name="adj2" fmla="val 50000"/>
            </a:avLst>
          </a:prstGeom>
          <a:ln xmlns:a="http://schemas.openxmlformats.org/drawingml/2006/main" w="11430">
            <a:solidFill>
              <a:srgbClr val="333333"/>
            </a:solidFill>
            <a:tailEnd type="arrow" w="sm" len="sm"/>
          </a:ln>
        </p:spPr>
      </p:cxnSp>
      <p:cxnSp>
        <p:nvCxnSpPr>
          <p:cNvPr id="3" name="">
            <a:extLst xmlns:a="http://schemas.openxmlformats.org/drawingml/2006/main">
              <a:ext uri="{FF2B5EF4-FFF2-40B4-BE49-F238E27FC236}">
                <a16:creationId xmlns:a16="http://schemas.microsoft.com/office/drawing/2014/main" id="{D5471547-93EC-40FA-958A-5A2461D7FC78}"/>
              </a:ext>
            </a:extLst>
          </p:cNvPr>
          <p:cNvCxnSpPr>
            <a:stCxn xmlns:a="http://schemas.openxmlformats.org/drawingml/2006/main" id="7" idx="2"/>
            <a:endCxn xmlns:a="http://schemas.openxmlformats.org/drawingml/2006/main" id="8" idx="0"/>
          </p:cNvCxnSpPr>
          <p:nvPr/>
        </p:nvCxnSpPr>
        <p:spPr>
          <a:xfrm xmlns:a="http://schemas.openxmlformats.org/drawingml/2006/main" flipH="1">
            <a:off x="2262188" y="1876425"/>
            <a:ext cx="3976688" cy="628650"/>
          </a:xfrm>
          <a:prstGeom xmlns:a="http://schemas.openxmlformats.org/drawingml/2006/main" prst="bentConnector4">
            <a:avLst>
              <a:gd name="adj1" fmla="val 0"/>
              <a:gd name="adj2" fmla="val 50000"/>
            </a:avLst>
          </a:prstGeom>
          <a:ln xmlns:a="http://schemas.openxmlformats.org/drawingml/2006/main" w="11430">
            <a:solidFill>
              <a:srgbClr val="333333"/>
            </a:solidFill>
            <a:tailEnd type="arrow" w="sm" len="sm"/>
          </a:ln>
        </p:spPr>
      </p:cxnSp>
      <p:cxnSp>
        <p:nvCxnSpPr>
          <p:cNvPr id="4" name="">
            <a:extLst xmlns:a="http://schemas.openxmlformats.org/drawingml/2006/main">
              <a:ext uri="{FF2B5EF4-FFF2-40B4-BE49-F238E27FC236}">
                <a16:creationId xmlns:a16="http://schemas.microsoft.com/office/drawing/2014/main" id="{A51FC3B0-900D-45AB-8FBD-E44897E9393D}"/>
              </a:ext>
            </a:extLst>
          </p:cNvPr>
          <p:cNvCxnSpPr>
            <a:stCxn xmlns:a="http://schemas.openxmlformats.org/drawingml/2006/main" id="6" idx="3"/>
            <a:endCxn xmlns:a="http://schemas.openxmlformats.org/drawingml/2006/main" id="7" idx="1"/>
          </p:cNvCxnSpPr>
          <p:nvPr/>
        </p:nvCxnSpPr>
        <p:spPr>
          <a:xfrm xmlns:a="http://schemas.openxmlformats.org/drawingml/2006/main">
            <a:off x="3028950" y="1566863"/>
            <a:ext cx="714375" cy="0"/>
          </a:xfrm>
          <a:prstGeom xmlns:a="http://schemas.openxmlformats.org/drawingml/2006/main" prst="straightConnector1">
            <a:avLst/>
          </a:prstGeom>
          <a:ln xmlns:a="http://schemas.openxmlformats.org/drawingml/2006/main" w="11430">
            <a:solidFill>
              <a:srgbClr val="333333"/>
            </a:solidFill>
            <a:tailEnd type="arrow" w="sm" len="sm"/>
          </a:ln>
        </p:spPr>
      </p:cxnSp>
      <p:sp>
        <p:nvSpPr>
          <p:cNvPr id="5" name="">
            <a:extLst xmlns:a="http://schemas.openxmlformats.org/drawingml/2006/main">
              <a:ext uri="{FF2B5EF4-FFF2-40B4-BE49-F238E27FC236}">
                <a16:creationId xmlns:a16="http://schemas.microsoft.com/office/drawing/2014/main" id="{BE2BA5B7-EC77-4A98-BDF0-0C9D521490C7}"/>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VPC and Network Boundaries</a:t>
            </a:r>
          </a:p>
        </p:txBody>
      </p:sp>
      <p:sp>
        <p:nvSpPr>
          <p:cNvPr id="6" name="">
            <a:extLst xmlns:a="http://schemas.openxmlformats.org/drawingml/2006/main">
              <a:ext uri="{FF2B5EF4-FFF2-40B4-BE49-F238E27FC236}">
                <a16:creationId xmlns:a16="http://schemas.microsoft.com/office/drawing/2014/main" id="{06760F35-38A1-4425-97FD-BB3EAFF5F787}"/>
              </a:ext>
            </a:extLst>
          </p:cNvPr>
          <p:cNvSpPr>
            <a:spLocks xmlns:a="http://schemas.openxmlformats.org/drawingml/2006/main" noGrp="1"/>
          </p:cNvSpPr>
          <p:nvPr/>
        </p:nvSpPr>
        <p:spPr>
          <a:xfrm xmlns:a="http://schemas.openxmlformats.org/drawingml/2006/main">
            <a:off x="409575" y="1257300"/>
            <a:ext cx="2619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GitHub-hosted runners / internet</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HTTPS only</a:t>
            </a:r>
          </a:p>
        </p:txBody>
      </p:sp>
      <p:sp>
        <p:nvSpPr>
          <p:cNvPr id="7" name="">
            <a:extLst xmlns:a="http://schemas.openxmlformats.org/drawingml/2006/main">
              <a:ext uri="{FF2B5EF4-FFF2-40B4-BE49-F238E27FC236}">
                <a16:creationId xmlns:a16="http://schemas.microsoft.com/office/drawing/2014/main" id="{4DFD02EF-32A0-4D7B-B47F-2F129A8A932F}"/>
              </a:ext>
            </a:extLst>
          </p:cNvPr>
          <p:cNvSpPr>
            <a:spLocks xmlns:a="http://schemas.openxmlformats.org/drawingml/2006/main" noGrp="1"/>
          </p:cNvSpPr>
          <p:nvPr/>
        </p:nvSpPr>
        <p:spPr>
          <a:xfrm xmlns:a="http://schemas.openxmlformats.org/drawingml/2006/main">
            <a:off x="3743325" y="1257300"/>
            <a:ext cx="499110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Public ALB across AZ-A + AZ-B</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Public subnets / Internet Gateway</a:t>
            </a:r>
          </a:p>
        </p:txBody>
      </p:sp>
      <p:sp>
        <p:nvSpPr>
          <p:cNvPr id="8" name="">
            <a:extLst xmlns:a="http://schemas.openxmlformats.org/drawingml/2006/main">
              <a:ext uri="{FF2B5EF4-FFF2-40B4-BE49-F238E27FC236}">
                <a16:creationId xmlns:a16="http://schemas.microsoft.com/office/drawing/2014/main" id="{451A8C36-DADF-48FD-AA85-572A317644AB}"/>
              </a:ext>
            </a:extLst>
          </p:cNvPr>
          <p:cNvSpPr>
            <a:spLocks xmlns:a="http://schemas.openxmlformats.org/drawingml/2006/main" noGrp="1"/>
          </p:cNvSpPr>
          <p:nvPr/>
        </p:nvSpPr>
        <p:spPr>
          <a:xfrm xmlns:a="http://schemas.openxmlformats.org/drawingml/2006/main">
            <a:off x="409575" y="2505075"/>
            <a:ext cx="370522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AZ-A private subnet</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EC2 node A: API + worker</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No public IP</a:t>
            </a:r>
          </a:p>
        </p:txBody>
      </p:sp>
      <p:sp>
        <p:nvSpPr>
          <p:cNvPr id="9" name="">
            <a:extLst xmlns:a="http://schemas.openxmlformats.org/drawingml/2006/main">
              <a:ext uri="{FF2B5EF4-FFF2-40B4-BE49-F238E27FC236}">
                <a16:creationId xmlns:a16="http://schemas.microsoft.com/office/drawing/2014/main" id="{F4346D85-A116-4B83-A6A1-E28D6F80CCBB}"/>
              </a:ext>
            </a:extLst>
          </p:cNvPr>
          <p:cNvSpPr>
            <a:spLocks xmlns:a="http://schemas.openxmlformats.org/drawingml/2006/main" noGrp="1"/>
          </p:cNvSpPr>
          <p:nvPr/>
        </p:nvSpPr>
        <p:spPr>
          <a:xfrm xmlns:a="http://schemas.openxmlformats.org/drawingml/2006/main">
            <a:off x="5029200" y="2505075"/>
            <a:ext cx="3705225" cy="83820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AZ-B private subnet</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EC2 node B: API + worker</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No public IP</a:t>
            </a:r>
          </a:p>
        </p:txBody>
      </p:sp>
      <p:sp>
        <p:nvSpPr>
          <p:cNvPr id="10" name="">
            <a:extLst xmlns:a="http://schemas.openxmlformats.org/drawingml/2006/main">
              <a:ext uri="{FF2B5EF4-FFF2-40B4-BE49-F238E27FC236}">
                <a16:creationId xmlns:a16="http://schemas.microsoft.com/office/drawing/2014/main" id="{B303836C-9BA4-4E85-B490-9EE802A81158}"/>
              </a:ext>
            </a:extLst>
          </p:cNvPr>
          <p:cNvSpPr>
            <a:spLocks xmlns:a="http://schemas.openxmlformats.org/drawingml/2006/main" noGrp="1"/>
          </p:cNvSpPr>
          <p:nvPr/>
        </p:nvSpPr>
        <p:spPr>
          <a:xfrm xmlns:a="http://schemas.openxmlformats.org/drawingml/2006/main">
            <a:off x="409575" y="3800475"/>
            <a:ext cx="37052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AZ-A public subnet</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NAT A for private outbound HTTPS</a:t>
            </a:r>
          </a:p>
        </p:txBody>
      </p:sp>
      <p:sp>
        <p:nvSpPr>
          <p:cNvPr id="11" name="">
            <a:extLst xmlns:a="http://schemas.openxmlformats.org/drawingml/2006/main">
              <a:ext uri="{FF2B5EF4-FFF2-40B4-BE49-F238E27FC236}">
                <a16:creationId xmlns:a16="http://schemas.microsoft.com/office/drawing/2014/main" id="{EADE57F8-25D7-4FA5-8348-B49CCE7D0448}"/>
              </a:ext>
            </a:extLst>
          </p:cNvPr>
          <p:cNvSpPr>
            <a:spLocks xmlns:a="http://schemas.openxmlformats.org/drawingml/2006/main" noGrp="1"/>
          </p:cNvSpPr>
          <p:nvPr/>
        </p:nvSpPr>
        <p:spPr>
          <a:xfrm xmlns:a="http://schemas.openxmlformats.org/drawingml/2006/main">
            <a:off x="5029200" y="3800475"/>
            <a:ext cx="37052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AZ-B public subnet</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NAT B for private outbound HTTPS</a:t>
            </a:r>
          </a:p>
        </p:txBody>
      </p:sp>
      <p:sp>
        <p:nvSpPr>
          <p:cNvPr id="12" name="">
            <a:extLst xmlns:a="http://schemas.openxmlformats.org/drawingml/2006/main">
              <a:ext uri="{FF2B5EF4-FFF2-40B4-BE49-F238E27FC236}">
                <a16:creationId xmlns:a16="http://schemas.microsoft.com/office/drawing/2014/main" id="{8E9E7020-5432-41F0-8EA2-B1E6E1AE54EA}"/>
              </a:ext>
            </a:extLst>
          </p:cNvPr>
          <p:cNvSpPr>
            <a:spLocks xmlns:a="http://schemas.openxmlformats.org/drawingml/2006/main" noGrp="1"/>
          </p:cNvSpPr>
          <p:nvPr/>
        </p:nvSpPr>
        <p:spPr>
          <a:xfrm xmlns:a="http://schemas.openxmlformats.org/drawingml/2006/main">
            <a:off x="409575" y="4572000"/>
            <a:ext cx="8334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S3 / DynamoDB gateway endpoints serve the private route tables.</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Security groups permit ALB-to-API traffic only. Workers expose no inbound port.</a:t>
            </a:r>
          </a:p>
        </p:txBody>
      </p:sp>
    </p:spTree>
    <p:extLst>
      <p:ext uri="{BB962C8B-B14F-4D97-AF65-F5344CB8AC3E}">
        <p14:creationId xmlns:p14="http://schemas.microsoft.com/office/powerpoint/2010/main" val="11506199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9A65AA8-88F2-4309-AA72-54D0C9EB3E0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Security Group and API Rules</a:t>
            </a:r>
          </a:p>
        </p:txBody>
      </p:sp>
      <p:graphicFrame>
        <p:nvGraphicFramePr>
          <p:cNvPr id="3" name="">
            <a:extLst xmlns:a="http://schemas.openxmlformats.org/drawingml/2006/main">
              <a:ext uri="{FF2B5EF4-FFF2-40B4-BE49-F238E27FC236}">
                <a16:creationId xmlns:a16="http://schemas.microsoft.com/office/drawing/2014/main" id="{E018AC82-3448-4C4D-BC24-C8404482ACB1}"/>
              </a:ext>
            </a:extLst>
          </p:cNvPr>
          <p:cNvGraphicFramePr/>
          <p:nvPr/>
        </p:nvGraphicFramePr>
        <p:xfrm>
          <a:off xmlns:a="http://schemas.openxmlformats.org/drawingml/2006/main" x="409575" y="1285875"/>
          <a:ext xmlns:a="http://schemas.openxmlformats.org/drawingml/2006/main" cx="8334375" cy="2847975"/>
        </p:xfrm>
        <a:graphic xmlns:a="http://schemas.openxmlformats.org/drawingml/2006/main">
          <a:graphicData uri="http://schemas.openxmlformats.org/drawingml/2006/table">
            <a:tbl>
              <a:tblPr/>
              <a:tblGrid>
                <a:gridCol w="2381250"/>
                <a:gridCol w="5953125"/>
              </a:tblGrid>
              <a:tr h="474663">
                <a:tc>
                  <a:txBody>
                    <a:bodyPr lIns="66675" tIns="66675" rIns="66675" bIns="66675"/>
                    <a:lstStyle/>
                    <a:p>
                      <a:r>
                        <a:rPr sz="1350" b="1">
                          <a:solidFill>
                            <a:srgbClr val="FFFFFF"/>
                          </a:solidFill>
                          <a:latin typeface="Arial"/>
                          <a:ea typeface="Arial"/>
                          <a:cs typeface="Arial"/>
                        </a:rPr>
                        <a:t>Boundary</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350" b="1">
                          <a:solidFill>
                            <a:srgbClr val="FFFFFF"/>
                          </a:solidFill>
                          <a:latin typeface="Arial"/>
                          <a:ea typeface="Arial"/>
                          <a:cs typeface="Arial"/>
                        </a:rPr>
                        <a:t>Allowed traffic / control</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74663">
                <a:tc>
                  <a:txBody>
                    <a:bodyPr lIns="66675" tIns="66675" rIns="66675" bIns="66675"/>
                    <a:lstStyle/>
                    <a:p>
                      <a:r>
                        <a:rPr sz="1350" b="0">
                          <a:solidFill>
                            <a:srgbClr val="666666"/>
                          </a:solidFill>
                          <a:latin typeface="Arial"/>
                          <a:ea typeface="Arial"/>
                          <a:cs typeface="Arial"/>
                        </a:rPr>
                        <a:t>Internet to ALB</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TCP 443 from 0.0.0.0/0. No fixed GitHub runner IP list.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74663">
                <a:tc>
                  <a:txBody>
                    <a:bodyPr lIns="66675" tIns="66675" rIns="66675" bIns="66675"/>
                    <a:lstStyle/>
                    <a:p>
                      <a:r>
                        <a:rPr sz="1350" b="0">
                          <a:solidFill>
                            <a:srgbClr val="666666"/>
                          </a:solidFill>
                          <a:latin typeface="Arial"/>
                          <a:ea typeface="Arial"/>
                          <a:cs typeface="Arial"/>
                        </a:rPr>
                        <a:t>ALB to EC2 API</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TCP 3000 from the ALB security group only.</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74663">
                <a:tc>
                  <a:txBody>
                    <a:bodyPr lIns="66675" tIns="66675" rIns="66675" bIns="66675"/>
                    <a:lstStyle/>
                    <a:p>
                      <a:r>
                        <a:rPr sz="1350" b="0">
                          <a:solidFill>
                            <a:srgbClr val="666666"/>
                          </a:solidFill>
                          <a:latin typeface="Arial"/>
                          <a:ea typeface="Arial"/>
                          <a:cs typeface="Arial"/>
                        </a:rPr>
                        <a:t>Internet to EC2 / worker</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No public IP, SSH, 443 listener, or published Docker port.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74663">
                <a:tc>
                  <a:txBody>
                    <a:bodyPr lIns="66675" tIns="66675" rIns="66675" bIns="66675"/>
                    <a:lstStyle/>
                    <a:p>
                      <a:r>
                        <a:rPr sz="1350" b="0">
                          <a:solidFill>
                            <a:srgbClr val="666666"/>
                          </a:solidFill>
                          <a:latin typeface="Arial"/>
                          <a:ea typeface="Arial"/>
                          <a:cs typeface="Arial"/>
                        </a:rPr>
                        <a:t>API request authorization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Repo-scoped bearer token, input validation, and per-node rate limits.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74663">
                <a:tc>
                  <a:txBody>
                    <a:bodyPr lIns="66675" tIns="66675" rIns="66675" bIns="66675"/>
                    <a:lstStyle/>
                    <a:p>
                      <a:r>
                        <a:rPr sz="1350" b="0">
                          <a:solidFill>
                            <a:srgbClr val="666666"/>
                          </a:solidFill>
                          <a:latin typeface="Arial"/>
                          <a:ea typeface="Arial"/>
                          <a:cs typeface="Arial"/>
                        </a:rPr>
                        <a:t>API to container launcher</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No direct access. A separate supervisor owns the fixed launcher.</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5A93BC7-2DC2-4C94-8AD8-E720F0DF9F0B}"/>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HTTPS encrypts traffic. It does not identify the caller. The token is the identity control.</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A stolen token remains a risk, so rotation, redaction, and bounded work are required.</a:t>
            </a:r>
          </a:p>
        </p:txBody>
      </p:sp>
    </p:spTree>
    <p:extLst>
      <p:ext uri="{BB962C8B-B14F-4D97-AF65-F5344CB8AC3E}">
        <p14:creationId xmlns:p14="http://schemas.microsoft.com/office/powerpoint/2010/main" val="7654491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D1F3B7-0D9B-4B30-B814-63C3437B8A87}"/>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Availability and Deployment</a:t>
            </a:r>
          </a:p>
        </p:txBody>
      </p:sp>
      <p:sp>
        <p:nvSpPr>
          <p:cNvPr id="3" name="">
            <a:extLst xmlns:a="http://schemas.openxmlformats.org/drawingml/2006/main">
              <a:ext uri="{FF2B5EF4-FFF2-40B4-BE49-F238E27FC236}">
                <a16:creationId xmlns:a16="http://schemas.microsoft.com/office/drawing/2014/main" id="{67742075-C8F9-46B0-AA98-9D57112CA25E}"/>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Baseline capacity</a:t>
            </a:r>
          </a:p>
        </p:txBody>
      </p:sp>
      <p:sp>
        <p:nvSpPr>
          <p:cNvPr id="4" name="">
            <a:extLst xmlns:a="http://schemas.openxmlformats.org/drawingml/2006/main">
              <a:ext uri="{FF2B5EF4-FFF2-40B4-BE49-F238E27FC236}">
                <a16:creationId xmlns:a16="http://schemas.microsoft.com/office/drawing/2014/main" id="{53620664-3BB3-423F-BC64-B435A42B0AC9}"/>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ASG min / desired / max = 2 / 2 / 2, distributed across two AZs.</a:t>
            </a:r>
          </a:p>
          <a:p xmlns:a="http://schemas.openxmlformats.org/drawingml/2006/main">
            <a:pPr marL="228600" indent="-114300" algn="l">
              <a:spcAft>
                <a:spcPts val="900"/>
              </a:spcAft>
              <a:buChar char="•"/>
              <a:defRPr sz="1500" b="0">
                <a:solidFill>
                  <a:srgbClr val="666666"/>
                </a:solidFill>
                <a:latin typeface="Arial"/>
                <a:ea typeface="Arial"/>
                <a:cs typeface="Arial"/>
              </a:defRPr>
            </a:pPr>
            <a:r>
              <a:t>ALB removes unhealthy API targets. ASG replaces failed EC2 nodes.</a:t>
            </a:r>
          </a:p>
          <a:p xmlns:a="http://schemas.openxmlformats.org/drawingml/2006/main">
            <a:pPr marL="228600" indent="-114300" algn="l">
              <a:spcAft>
                <a:spcPts val="900"/>
              </a:spcAft>
              <a:buChar char="•"/>
              <a:defRPr sz="1500" b="0">
                <a:solidFill>
                  <a:srgbClr val="666666"/>
                </a:solidFill>
                <a:latin typeface="Arial"/>
                <a:ea typeface="Arial"/>
                <a:cs typeface="Arial"/>
              </a:defRPr>
            </a:pPr>
            <a:r>
              <a:t>Each node processes one job at a time. SQS holds additional jobs.</a:t>
            </a:r>
          </a:p>
        </p:txBody>
      </p:sp>
      <p:sp>
        <p:nvSpPr>
          <p:cNvPr id="5" name="">
            <a:extLst xmlns:a="http://schemas.openxmlformats.org/drawingml/2006/main">
              <a:ext uri="{FF2B5EF4-FFF2-40B4-BE49-F238E27FC236}">
                <a16:creationId xmlns:a16="http://schemas.microsoft.com/office/drawing/2014/main" id="{FA806833-62A5-4018-A483-1B3CF31B30E9}"/>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Update and failure behavior</a:t>
            </a:r>
          </a:p>
        </p:txBody>
      </p:sp>
      <p:sp>
        <p:nvSpPr>
          <p:cNvPr id="6" name="">
            <a:extLst xmlns:a="http://schemas.openxmlformats.org/drawingml/2006/main">
              <a:ext uri="{FF2B5EF4-FFF2-40B4-BE49-F238E27FC236}">
                <a16:creationId xmlns:a16="http://schemas.microsoft.com/office/drawing/2014/main" id="{EC307C69-434E-4984-A95B-ABCA2649C487}"/>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State lives in S3 / DynamoDB / SQS, so another node can resume work.</a:t>
            </a:r>
          </a:p>
          <a:p xmlns:a="http://schemas.openxmlformats.org/drawingml/2006/main">
            <a:pPr marL="228600" indent="-114300" algn="l">
              <a:spcAft>
                <a:spcPts val="900"/>
              </a:spcAft>
              <a:buChar char="•"/>
              <a:defRPr sz="1500" b="0">
                <a:solidFill>
                  <a:srgbClr val="666666"/>
                </a:solidFill>
                <a:latin typeface="Arial"/>
                <a:ea typeface="Arial"/>
                <a:cs typeface="Arial"/>
              </a:defRPr>
            </a:pPr>
            <a:r>
              <a:t>Use a launch template and one-at-a-time instance refresh after a smoke test.</a:t>
            </a:r>
          </a:p>
          <a:p xmlns:a="http://schemas.openxmlformats.org/drawingml/2006/main">
            <a:pPr marL="228600" indent="-114300" algn="l">
              <a:spcAft>
                <a:spcPts val="900"/>
              </a:spcAft>
              <a:buChar char="•"/>
              <a:defRPr sz="1500" b="0">
                <a:solidFill>
                  <a:srgbClr val="666666"/>
                </a:solidFill>
                <a:latin typeface="Arial"/>
                <a:ea typeface="Arial"/>
                <a:cs typeface="Arial"/>
              </a:defRPr>
            </a:pPr>
            <a:r>
              <a:t>Pin image digests and keep the previous launch template version for rollback.</a:t>
            </a:r>
          </a:p>
        </p:txBody>
      </p:sp>
      <p:sp>
        <p:nvSpPr>
          <p:cNvPr id="7" name="">
            <a:extLst xmlns:a="http://schemas.openxmlformats.org/drawingml/2006/main">
              <a:ext uri="{FF2B5EF4-FFF2-40B4-BE49-F238E27FC236}">
                <a16:creationId xmlns:a16="http://schemas.microsoft.com/office/drawing/2014/main" id="{61713FE6-2679-4CC9-BEBA-B13EF8916501}"/>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Two hosts remove the original single-instance dependency. Lab-wide shutdowns still interrupt work.</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Dynamic scaling beyond two nodes is optional after the queue and lease model works.</a:t>
            </a:r>
          </a:p>
        </p:txBody>
      </p:sp>
    </p:spTree>
    <p:extLst>
      <p:ext uri="{BB962C8B-B14F-4D97-AF65-F5344CB8AC3E}">
        <p14:creationId xmlns:p14="http://schemas.microsoft.com/office/powerpoint/2010/main" val="179372391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B6B167E-0A5C-423F-B661-A26BCB5C2866}"/>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False Positives and Policy</a:t>
            </a:r>
          </a:p>
        </p:txBody>
      </p:sp>
      <p:sp>
        <p:nvSpPr>
          <p:cNvPr id="3" name="">
            <a:extLst xmlns:a="http://schemas.openxmlformats.org/drawingml/2006/main">
              <a:ext uri="{FF2B5EF4-FFF2-40B4-BE49-F238E27FC236}">
                <a16:creationId xmlns:a16="http://schemas.microsoft.com/office/drawing/2014/main" id="{2438CDD9-3D7C-47B5-BC82-2DC92E819484}"/>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Baseline exception handling</a:t>
            </a:r>
          </a:p>
        </p:txBody>
      </p:sp>
      <p:sp>
        <p:nvSpPr>
          <p:cNvPr id="4" name="">
            <a:extLst xmlns:a="http://schemas.openxmlformats.org/drawingml/2006/main">
              <a:ext uri="{FF2B5EF4-FFF2-40B4-BE49-F238E27FC236}">
                <a16:creationId xmlns:a16="http://schemas.microsoft.com/office/drawing/2014/main" id="{F9BEDBF4-AC06-4A3B-B3F0-BC7630228EF1}"/>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Keep one exact, reviewed allowlist in the trusted scanner configuration.</a:t>
            </a:r>
          </a:p>
          <a:p xmlns:a="http://schemas.openxmlformats.org/drawingml/2006/main">
            <a:pPr marL="228600" indent="-114300" algn="l">
              <a:spcAft>
                <a:spcPts val="900"/>
              </a:spcAft>
              <a:buChar char="•"/>
              <a:defRPr sz="1500" b="0">
                <a:solidFill>
                  <a:srgbClr val="666666"/>
                </a:solidFill>
                <a:latin typeface="Arial"/>
                <a:ea typeface="Arial"/>
                <a:cs typeface="Arial"/>
              </a:defRPr>
            </a:pPr>
            <a:r>
              <a:t>Each entry identifies file, rule, finding fingerprint, reason, and expiry.</a:t>
            </a:r>
          </a:p>
          <a:p xmlns:a="http://schemas.openxmlformats.org/drawingml/2006/main">
            <a:pPr marL="228600" indent="-114300" algn="l">
              <a:spcAft>
                <a:spcPts val="900"/>
              </a:spcAft>
              <a:buChar char="•"/>
              <a:defRPr sz="1500" b="0">
                <a:solidFill>
                  <a:srgbClr val="666666"/>
                </a:solidFill>
                <a:latin typeface="Arial"/>
                <a:ea typeface="Arial"/>
                <a:cs typeface="Arial"/>
              </a:defRPr>
            </a:pPr>
            <a:r>
              <a:t>Use the protected policy version. PR content cannot approve its own exception.</a:t>
            </a:r>
          </a:p>
        </p:txBody>
      </p:sp>
      <p:sp>
        <p:nvSpPr>
          <p:cNvPr id="5" name="">
            <a:extLst xmlns:a="http://schemas.openxmlformats.org/drawingml/2006/main">
              <a:ext uri="{FF2B5EF4-FFF2-40B4-BE49-F238E27FC236}">
                <a16:creationId xmlns:a16="http://schemas.microsoft.com/office/drawing/2014/main" id="{818C3E4D-D769-46E3-B85C-79377CDEB4EE}"/>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Scope limits</a:t>
            </a:r>
          </a:p>
        </p:txBody>
      </p:sp>
      <p:sp>
        <p:nvSpPr>
          <p:cNvPr id="6" name="">
            <a:extLst xmlns:a="http://schemas.openxmlformats.org/drawingml/2006/main">
              <a:ext uri="{FF2B5EF4-FFF2-40B4-BE49-F238E27FC236}">
                <a16:creationId xmlns:a16="http://schemas.microsoft.com/office/drawing/2014/main" id="{9556B7E5-D0F7-4E17-89A0-9910B9F505FF}"/>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Record suppressed findings separately in the sanitized report.</a:t>
            </a:r>
          </a:p>
          <a:p xmlns:a="http://schemas.openxmlformats.org/drawingml/2006/main">
            <a:pPr marL="228600" indent="-114300" algn="l">
              <a:spcAft>
                <a:spcPts val="900"/>
              </a:spcAft>
              <a:buChar char="•"/>
              <a:defRPr sz="1500" b="0">
                <a:solidFill>
                  <a:srgbClr val="666666"/>
                </a:solidFill>
                <a:latin typeface="Arial"/>
                <a:ea typeface="Arial"/>
                <a:cs typeface="Arial"/>
              </a:defRPr>
            </a:pPr>
            <a:r>
              <a:t>Unapproved HIGH findings remain blocking, even if an inline ignore comment exists.</a:t>
            </a:r>
          </a:p>
          <a:p xmlns:a="http://schemas.openxmlformats.org/drawingml/2006/main">
            <a:pPr marL="228600" indent="-114300" algn="l">
              <a:spcAft>
                <a:spcPts val="900"/>
              </a:spcAft>
              <a:buChar char="•"/>
              <a:defRPr sz="1500" b="0">
                <a:solidFill>
                  <a:srgbClr val="666666"/>
                </a:solidFill>
                <a:latin typeface="Arial"/>
                <a:ea typeface="Arial"/>
                <a:cs typeface="Arial"/>
              </a:defRPr>
            </a:pPr>
            <a:r>
              <a:t>A rule-management UI and automatic approval workflow are nice-to-haves.</a:t>
            </a:r>
          </a:p>
        </p:txBody>
      </p:sp>
      <p:sp>
        <p:nvSpPr>
          <p:cNvPr id="7" name="">
            <a:extLst xmlns:a="http://schemas.openxmlformats.org/drawingml/2006/main">
              <a:ext uri="{FF2B5EF4-FFF2-40B4-BE49-F238E27FC236}">
                <a16:creationId xmlns:a16="http://schemas.microsoft.com/office/drawing/2014/main" id="{BBBEFA15-E311-4698-A161-91B1A5F0E9D5}"/>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Passing means a complete scan below the configured blocking threshold.</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Regex matching can still miss vulnerabilities or flag safe code.</a:t>
            </a:r>
          </a:p>
        </p:txBody>
      </p:sp>
    </p:spTree>
    <p:extLst>
      <p:ext uri="{BB962C8B-B14F-4D97-AF65-F5344CB8AC3E}">
        <p14:creationId xmlns:p14="http://schemas.microsoft.com/office/powerpoint/2010/main" val="113707034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968FFB-E76E-4E33-BC89-257071B964BC}"/>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Learner Lab Preflight</a:t>
            </a:r>
          </a:p>
        </p:txBody>
      </p:sp>
      <p:sp>
        <p:nvSpPr>
          <p:cNvPr id="3" name="">
            <a:extLst xmlns:a="http://schemas.openxmlformats.org/drawingml/2006/main">
              <a:ext uri="{FF2B5EF4-FFF2-40B4-BE49-F238E27FC236}">
                <a16:creationId xmlns:a16="http://schemas.microsoft.com/office/drawing/2014/main" id="{041A3F36-AEEA-4EE1-B739-D5107209CF44}"/>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Verify before infrastructure work</a:t>
            </a:r>
          </a:p>
        </p:txBody>
      </p:sp>
      <p:sp>
        <p:nvSpPr>
          <p:cNvPr id="4" name="">
            <a:extLst xmlns:a="http://schemas.openxmlformats.org/drawingml/2006/main">
              <a:ext uri="{FF2B5EF4-FFF2-40B4-BE49-F238E27FC236}">
                <a16:creationId xmlns:a16="http://schemas.microsoft.com/office/drawing/2014/main" id="{C6033CA1-207D-4A4F-90F1-69FB4B44354C}"/>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Two permitted EC2 instances, two AZs, ALB, ASG, NAT, SQS, DynamoDB, and S3.</a:t>
            </a:r>
          </a:p>
          <a:p xmlns:a="http://schemas.openxmlformats.org/drawingml/2006/main">
            <a:pPr marL="228600" indent="-114300" algn="l">
              <a:spcAft>
                <a:spcPts val="900"/>
              </a:spcAft>
              <a:buChar char="•"/>
              <a:defRPr sz="1500" b="0">
                <a:solidFill>
                  <a:srgbClr val="666666"/>
                </a:solidFill>
                <a:latin typeface="Arial"/>
                <a:ea typeface="Arial"/>
                <a:cs typeface="Arial"/>
              </a:defRPr>
            </a:pPr>
            <a:r>
              <a:t>ECR, Parameter Store, CloudWatch, and the allowed instance profile / role.</a:t>
            </a:r>
          </a:p>
          <a:p xmlns:a="http://schemas.openxmlformats.org/drawingml/2006/main">
            <a:pPr marL="228600" indent="-114300" algn="l">
              <a:spcAft>
                <a:spcPts val="900"/>
              </a:spcAft>
              <a:buChar char="•"/>
              <a:defRPr sz="1500" b="0">
                <a:solidFill>
                  <a:srgbClr val="666666"/>
                </a:solidFill>
                <a:latin typeface="Arial"/>
                <a:ea typeface="Arial"/>
                <a:cs typeface="Arial"/>
              </a:defRPr>
            </a:pPr>
            <a:r>
              <a:t>A DNS name we control plus a validated ACM certificate for the ALB.</a:t>
            </a:r>
          </a:p>
        </p:txBody>
      </p:sp>
      <p:sp>
        <p:nvSpPr>
          <p:cNvPr id="5" name="">
            <a:extLst xmlns:a="http://schemas.openxmlformats.org/drawingml/2006/main">
              <a:ext uri="{FF2B5EF4-FFF2-40B4-BE49-F238E27FC236}">
                <a16:creationId xmlns:a16="http://schemas.microsoft.com/office/drawing/2014/main" id="{764ED8DF-F750-41F6-9FC5-E6B356E76336}"/>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Agree before application work</a:t>
            </a:r>
          </a:p>
        </p:txBody>
      </p:sp>
      <p:sp>
        <p:nvSpPr>
          <p:cNvPr id="6" name="">
            <a:extLst xmlns:a="http://schemas.openxmlformats.org/drawingml/2006/main">
              <a:ext uri="{FF2B5EF4-FFF2-40B4-BE49-F238E27FC236}">
                <a16:creationId xmlns:a16="http://schemas.microsoft.com/office/drawing/2014/main" id="{36598F4B-64BD-4B42-8032-FAAE95E29EEF}"/>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Confirm lab session shutdown / restart behavior and service quotas.</a:t>
            </a:r>
          </a:p>
          <a:p xmlns:a="http://schemas.openxmlformats.org/drawingml/2006/main">
            <a:pPr marL="228600" indent="-114300" algn="l">
              <a:spcAft>
                <a:spcPts val="900"/>
              </a:spcAft>
              <a:buChar char="•"/>
              <a:defRPr sz="1500" b="0">
                <a:solidFill>
                  <a:srgbClr val="666666"/>
                </a:solidFill>
                <a:latin typeface="Arial"/>
                <a:ea typeface="Arial"/>
                <a:cs typeface="Arial"/>
              </a:defRPr>
            </a:pPr>
            <a:r>
              <a:t>Estimate active-session spend for both NAT gateways, ALB, EC2, and storage.</a:t>
            </a:r>
          </a:p>
          <a:p xmlns:a="http://schemas.openxmlformats.org/drawingml/2006/main">
            <a:pPr marL="228600" indent="-114300" algn="l">
              <a:spcAft>
                <a:spcPts val="900"/>
              </a:spcAft>
              <a:buChar char="•"/>
              <a:defRPr sz="1500" b="0">
                <a:solidFill>
                  <a:srgbClr val="666666"/>
                </a:solidFill>
                <a:latin typeface="Arial"/>
                <a:ea typeface="Arial"/>
                <a:cs typeface="Arial"/>
              </a:defRPr>
            </a:pPr>
            <a:r>
              <a:t>Confirm required GitHub checks are supported and protect workflow changes.</a:t>
            </a:r>
          </a:p>
        </p:txBody>
      </p:sp>
      <p:sp>
        <p:nvSpPr>
          <p:cNvPr id="7" name="">
            <a:extLst xmlns:a="http://schemas.openxmlformats.org/drawingml/2006/main">
              <a:ext uri="{FF2B5EF4-FFF2-40B4-BE49-F238E27FC236}">
                <a16:creationId xmlns:a16="http://schemas.microsoft.com/office/drawing/2014/main" id="{8AFE757A-BA1C-442C-B7ED-375C8B9B1490}"/>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Owner: Aditya. Complete feasibility and setup before handing implementation tasks over.</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If a gate fails, resolve the design first so neither teammate has to discover setup blockers.</a:t>
            </a:r>
          </a:p>
        </p:txBody>
      </p:sp>
    </p:spTree>
    <p:extLst>
      <p:ext uri="{BB962C8B-B14F-4D97-AF65-F5344CB8AC3E}">
        <p14:creationId xmlns:p14="http://schemas.microsoft.com/office/powerpoint/2010/main" val="53378801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291A58E-1B03-467B-9439-39D4D3528C3A}"/>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Cost Controls and Tradeoffs</a:t>
            </a:r>
          </a:p>
        </p:txBody>
      </p:sp>
      <p:sp>
        <p:nvSpPr>
          <p:cNvPr id="3" name="">
            <a:extLst xmlns:a="http://schemas.openxmlformats.org/drawingml/2006/main">
              <a:ext uri="{FF2B5EF4-FFF2-40B4-BE49-F238E27FC236}">
                <a16:creationId xmlns:a16="http://schemas.microsoft.com/office/drawing/2014/main" id="{C63A2723-39A0-4345-939B-A4B973C620D1}"/>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Cost decisions</a:t>
            </a:r>
          </a:p>
        </p:txBody>
      </p:sp>
      <p:sp>
        <p:nvSpPr>
          <p:cNvPr id="4" name="">
            <a:extLst xmlns:a="http://schemas.openxmlformats.org/drawingml/2006/main">
              <a:ext uri="{FF2B5EF4-FFF2-40B4-BE49-F238E27FC236}">
                <a16:creationId xmlns:a16="http://schemas.microsoft.com/office/drawing/2014/main" id="{D771391F-8D4E-45BD-B19F-F52BD587C070}"/>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Use two small, lab-permitted instances during development and demos.</a:t>
            </a:r>
          </a:p>
          <a:p xmlns:a="http://schemas.openxmlformats.org/drawingml/2006/main">
            <a:pPr marL="228600" indent="-114300" algn="l">
              <a:spcAft>
                <a:spcPts val="900"/>
              </a:spcAft>
              <a:buChar char="•"/>
              <a:defRPr sz="1500" b="0">
                <a:solidFill>
                  <a:srgbClr val="666666"/>
                </a:solidFill>
                <a:latin typeface="Arial"/>
                <a:ea typeface="Arial"/>
                <a:cs typeface="Arial"/>
              </a:defRPr>
            </a:pPr>
            <a:r>
              <a:t>Keep fixed capacity at two. Additional capacity and automatic scaling wait.</a:t>
            </a:r>
          </a:p>
          <a:p xmlns:a="http://schemas.openxmlformats.org/drawingml/2006/main">
            <a:pPr marL="228600" indent="-114300" algn="l">
              <a:spcAft>
                <a:spcPts val="900"/>
              </a:spcAft>
              <a:buChar char="•"/>
              <a:defRPr sz="1500" b="0">
                <a:solidFill>
                  <a:srgbClr val="666666"/>
                </a:solidFill>
                <a:latin typeface="Arial"/>
                <a:ea typeface="Arial"/>
                <a:cs typeface="Arial"/>
              </a:defRPr>
            </a:pPr>
            <a:r>
              <a:t>Expire source, reports, and logs. Tag resources by project and owner.</a:t>
            </a:r>
          </a:p>
        </p:txBody>
      </p:sp>
      <p:sp>
        <p:nvSpPr>
          <p:cNvPr id="5" name="">
            <a:extLst xmlns:a="http://schemas.openxmlformats.org/drawingml/2006/main">
              <a:ext uri="{FF2B5EF4-FFF2-40B4-BE49-F238E27FC236}">
                <a16:creationId xmlns:a16="http://schemas.microsoft.com/office/drawing/2014/main" id="{F5FDDD67-7CD0-4352-A6FC-02F6B89BBB9E}"/>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Availability decisions</a:t>
            </a:r>
          </a:p>
        </p:txBody>
      </p:sp>
      <p:sp>
        <p:nvSpPr>
          <p:cNvPr id="6" name="">
            <a:extLst xmlns:a="http://schemas.openxmlformats.org/drawingml/2006/main">
              <a:ext uri="{FF2B5EF4-FFF2-40B4-BE49-F238E27FC236}">
                <a16:creationId xmlns:a16="http://schemas.microsoft.com/office/drawing/2014/main" id="{67CBCF4F-9457-464D-A5AE-79A848726C7A}"/>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Two NAT gateways avoid one shared outbound failure point.</a:t>
            </a:r>
          </a:p>
          <a:p xmlns:a="http://schemas.openxmlformats.org/drawingml/2006/main">
            <a:pPr marL="228600" indent="-114300" algn="l">
              <a:spcAft>
                <a:spcPts val="900"/>
              </a:spcAft>
              <a:buChar char="•"/>
              <a:defRPr sz="1500" b="0">
                <a:solidFill>
                  <a:srgbClr val="666666"/>
                </a:solidFill>
                <a:latin typeface="Arial"/>
                <a:ea typeface="Arial"/>
                <a:cs typeface="Arial"/>
              </a:defRPr>
            </a:pPr>
            <a:r>
              <a:t>ALB and shared durable services cost more than the former single-host design.</a:t>
            </a:r>
          </a:p>
          <a:p xmlns:a="http://schemas.openxmlformats.org/drawingml/2006/main">
            <a:pPr marL="228600" indent="-114300" algn="l">
              <a:spcAft>
                <a:spcPts val="900"/>
              </a:spcAft>
              <a:buChar char="•"/>
              <a:defRPr sz="1500" b="0">
                <a:solidFill>
                  <a:srgbClr val="666666"/>
                </a:solidFill>
                <a:latin typeface="Arial"/>
                <a:ea typeface="Arial"/>
                <a:cs typeface="Arial"/>
              </a:defRPr>
            </a:pPr>
            <a:r>
              <a:t>Stop the project deliberately after sessions, accepting unavailable checks then.</a:t>
            </a:r>
          </a:p>
        </p:txBody>
      </p:sp>
      <p:sp>
        <p:nvSpPr>
          <p:cNvPr id="7" name="">
            <a:extLst xmlns:a="http://schemas.openxmlformats.org/drawingml/2006/main">
              <a:ext uri="{FF2B5EF4-FFF2-40B4-BE49-F238E27FC236}">
                <a16:creationId xmlns:a16="http://schemas.microsoft.com/office/drawing/2014/main" id="{072E31D9-47CC-4C0B-8AB7-EAB627B9E440}"/>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Terraform supports a documented stop / resume procedure and teardown.</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Retain the state bucket and agreed reports. Stopping EC2 alone does not stop ALB / NAT charges.</a:t>
            </a:r>
          </a:p>
        </p:txBody>
      </p:sp>
    </p:spTree>
    <p:extLst>
      <p:ext uri="{BB962C8B-B14F-4D97-AF65-F5344CB8AC3E}">
        <p14:creationId xmlns:p14="http://schemas.microsoft.com/office/powerpoint/2010/main" val="122470378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08B2FD-16B9-4621-B014-063C189AF2E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Team Ownership and Handoffs</a:t>
            </a:r>
          </a:p>
        </p:txBody>
      </p:sp>
      <p:graphicFrame>
        <p:nvGraphicFramePr>
          <p:cNvPr id="3" name="">
            <a:extLst xmlns:a="http://schemas.openxmlformats.org/drawingml/2006/main">
              <a:ext uri="{FF2B5EF4-FFF2-40B4-BE49-F238E27FC236}">
                <a16:creationId xmlns:a16="http://schemas.microsoft.com/office/drawing/2014/main" id="{16EC5DB0-20A2-434F-B3F8-362FC5C1B4CA}"/>
              </a:ext>
            </a:extLst>
          </p:cNvPr>
          <p:cNvGraphicFramePr/>
          <p:nvPr/>
        </p:nvGraphicFramePr>
        <p:xfrm>
          <a:off xmlns:a="http://schemas.openxmlformats.org/drawingml/2006/main" x="409575" y="1285875"/>
          <a:ext xmlns:a="http://schemas.openxmlformats.org/drawingml/2006/main" cx="8334375" cy="2438400"/>
        </p:xfrm>
        <a:graphic xmlns:a="http://schemas.openxmlformats.org/drawingml/2006/main">
          <a:graphicData uri="http://schemas.openxmlformats.org/drawingml/2006/table">
            <a:tbl>
              <a:tblPr/>
              <a:tblGrid>
                <a:gridCol w="2219325"/>
                <a:gridCol w="3257550"/>
                <a:gridCol w="2857500"/>
              </a:tblGrid>
              <a:tr h="609600">
                <a:tc>
                  <a:txBody>
                    <a:bodyPr lIns="66675" tIns="66675" rIns="66675" bIns="66675"/>
                    <a:lstStyle/>
                    <a:p>
                      <a:r>
                        <a:rPr sz="1275" b="1">
                          <a:solidFill>
                            <a:srgbClr val="FFFFFF"/>
                          </a:solidFill>
                          <a:latin typeface="Arial"/>
                          <a:ea typeface="Arial"/>
                          <a:cs typeface="Arial"/>
                        </a:rPr>
                        <a:t>Proposed lead</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Owns</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Handoff / completion</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609600">
                <a:tc>
                  <a:txBody>
                    <a:bodyPr lIns="66675" tIns="66675" rIns="66675" bIns="66675"/>
                    <a:lstStyle/>
                    <a:p>
                      <a:r>
                        <a:rPr sz="1275" b="0">
                          <a:solidFill>
                            <a:srgbClr val="666666"/>
                          </a:solidFill>
                          <a:latin typeface="Arial"/>
                          <a:ea typeface="Arial"/>
                          <a:cs typeface="Arial"/>
                        </a:rPr>
                        <a:t>Aditya Chatterjee</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All setup, AWS / Terraform, API, contracts, integration</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Working baseline, dummy worker, setup guide and examples.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609600">
                <a:tc>
                  <a:txBody>
                    <a:bodyPr lIns="66675" tIns="66675" rIns="66675" bIns="66675"/>
                    <a:lstStyle/>
                    <a:p>
                      <a:r>
                        <a:rPr sz="1275" b="0">
                          <a:solidFill>
                            <a:srgbClr val="666666"/>
                          </a:solidFill>
                          <a:latin typeface="Arial"/>
                          <a:ea typeface="Arial"/>
                          <a:cs typeface="Arial"/>
                        </a:rPr>
                        <a:t>Arvind Dharmesh Parekh</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GitHub workflow, polling, retries, required check, end-to-end tests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PR workflow shows correct pass / fail and report links.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609600">
                <a:tc>
                  <a:txBody>
                    <a:bodyPr lIns="66675" tIns="66675" rIns="66675" bIns="66675"/>
                    <a:lstStyle/>
                    <a:p>
                      <a:r>
                        <a:rPr sz="1275" b="0">
                          <a:solidFill>
                            <a:srgbClr val="666666"/>
                          </a:solidFill>
                          <a:latin typeface="Arial"/>
                          <a:ea typeface="Arial"/>
                          <a:cs typeface="Arial"/>
                        </a:rPr>
                        <a:t>Chengyuan Sun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Real scanner worker, Docker limits, recovery, worker tests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Worker matches agreed jobs / results and handles failures.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549688D-AEDC-4242-92BB-4F138F267A70}"/>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Order: Aditya builds the foundation first. Arvind and Chengyuan then work in parallel.</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All three test and demonstrate the same original SAST project. Proposed split for the group.</a:t>
            </a:r>
          </a:p>
        </p:txBody>
      </p:sp>
    </p:spTree>
    <p:extLst>
      <p:ext uri="{BB962C8B-B14F-4D97-AF65-F5344CB8AC3E}">
        <p14:creationId xmlns:p14="http://schemas.microsoft.com/office/powerpoint/2010/main" val="80314110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57DF8AB-10E3-4522-B584-18B4A3B651A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Same Workflow, Clearer Status</a:t>
            </a:r>
          </a:p>
        </p:txBody>
      </p:sp>
      <p:sp>
        <p:nvSpPr>
          <p:cNvPr id="3" name="">
            <a:extLst xmlns:a="http://schemas.openxmlformats.org/drawingml/2006/main">
              <a:ext uri="{FF2B5EF4-FFF2-40B4-BE49-F238E27FC236}">
                <a16:creationId xmlns:a16="http://schemas.microsoft.com/office/drawing/2014/main" id="{26B158C1-E7B0-4E84-A1E8-92D23D197FE0}"/>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What GitHub shows</a:t>
            </a:r>
          </a:p>
        </p:txBody>
      </p:sp>
      <p:sp>
        <p:nvSpPr>
          <p:cNvPr id="4" name="">
            <a:extLst xmlns:a="http://schemas.openxmlformats.org/drawingml/2006/main">
              <a:ext uri="{FF2B5EF4-FFF2-40B4-BE49-F238E27FC236}">
                <a16:creationId xmlns:a16="http://schemas.microsoft.com/office/drawing/2014/main" id="{50435536-EABA-45B8-B2B4-E769C7164864}"/>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Submit once and receive a job ID with Queued status. Poll every 5 seconds.</a:t>
            </a:r>
          </a:p>
          <a:p xmlns:a="http://schemas.openxmlformats.org/drawingml/2006/main">
            <a:pPr marL="228600" indent="-114300" algn="l">
              <a:spcAft>
                <a:spcPts val="900"/>
              </a:spcAft>
              <a:buChar char="•"/>
              <a:defRPr sz="1500" b="0">
                <a:solidFill>
                  <a:srgbClr val="666666"/>
                </a:solidFill>
                <a:latin typeface="Arial"/>
                <a:ea typeface="Arial"/>
                <a:cs typeface="Arial"/>
              </a:defRPr>
            </a:pPr>
            <a:r>
              <a:t>Show Running after a worker acquires its lease. Show counts and report link at completion.</a:t>
            </a:r>
          </a:p>
          <a:p xmlns:a="http://schemas.openxmlformats.org/drawingml/2006/main">
            <a:pPr marL="228600" indent="-114300" algn="l">
              <a:spcAft>
                <a:spcPts val="900"/>
              </a:spcAft>
              <a:buChar char="•"/>
              <a:defRPr sz="1500" b="0">
                <a:solidFill>
                  <a:srgbClr val="666666"/>
                </a:solidFill>
                <a:latin typeface="Arial"/>
                <a:ea typeface="Arial"/>
                <a:cs typeface="Arial"/>
              </a:defRPr>
            </a:pPr>
            <a:r>
              <a:t>Show Infrastructure error on timeout / failure, with a rerun instruction.</a:t>
            </a:r>
          </a:p>
        </p:txBody>
      </p:sp>
      <p:sp>
        <p:nvSpPr>
          <p:cNvPr id="5" name="">
            <a:extLst xmlns:a="http://schemas.openxmlformats.org/drawingml/2006/main">
              <a:ext uri="{FF2B5EF4-FFF2-40B4-BE49-F238E27FC236}">
                <a16:creationId xmlns:a16="http://schemas.microsoft.com/office/drawing/2014/main" id="{4E35B6F4-EC4F-4BC2-A609-6FB6C0F4D732}"/>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Public report access</a:t>
            </a:r>
          </a:p>
        </p:txBody>
      </p:sp>
      <p:sp>
        <p:nvSpPr>
          <p:cNvPr id="6" name="">
            <a:extLst xmlns:a="http://schemas.openxmlformats.org/drawingml/2006/main">
              <a:ext uri="{FF2B5EF4-FFF2-40B4-BE49-F238E27FC236}">
                <a16:creationId xmlns:a16="http://schemas.microsoft.com/office/drawing/2014/main" id="{8C5B954E-1885-4749-8901-8E500EEB19C4}"/>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S3 stays private. Authenticated link requests return a 15-minute presigned URL.</a:t>
            </a:r>
          </a:p>
          <a:p xmlns:a="http://schemas.openxmlformats.org/drawingml/2006/main">
            <a:pPr marL="228600" indent="-114300" algn="l">
              <a:spcAft>
                <a:spcPts val="900"/>
              </a:spcAft>
              <a:buChar char="•"/>
              <a:defRPr sz="1500" b="0">
                <a:solidFill>
                  <a:srgbClr val="666666"/>
                </a:solidFill>
                <a:latin typeface="Arial"/>
                <a:ea typeface="Arial"/>
                <a:cs typeface="Arial"/>
              </a:defRPr>
            </a:pPr>
            <a:r>
              <a:t>Anyone holding that URL can read the redacted report until it expires.</a:t>
            </a:r>
          </a:p>
          <a:p xmlns:a="http://schemas.openxmlformats.org/drawingml/2006/main">
            <a:pPr marL="228600" indent="-114300" algn="l">
              <a:spcAft>
                <a:spcPts val="900"/>
              </a:spcAft>
              <a:buChar char="•"/>
              <a:defRPr sz="1500" b="0">
                <a:solidFill>
                  <a:srgbClr val="666666"/>
                </a:solidFill>
                <a:latin typeface="Arial"/>
                <a:ea typeface="Arial"/>
                <a:cs typeface="Arial"/>
              </a:defRPr>
            </a:pPr>
            <a:r>
              <a:t>A manual GitHub workflow refreshes a link for an existing job without rescanning.</a:t>
            </a:r>
          </a:p>
        </p:txBody>
      </p:sp>
      <p:sp>
        <p:nvSpPr>
          <p:cNvPr id="7" name="">
            <a:extLst xmlns:a="http://schemas.openxmlformats.org/drawingml/2006/main">
              <a:ext uri="{FF2B5EF4-FFF2-40B4-BE49-F238E27FC236}">
                <a16:creationId xmlns:a16="http://schemas.microsoft.com/office/drawing/2014/main" id="{93DEBCB7-4CF3-4CA3-9E6D-0B387753F8C0}"/>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Worker capacity no longer causes a busy HTTP 429. Queue wait is visible.</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Only complete results for the current commit can satisfy its required check.</a:t>
            </a:r>
          </a:p>
        </p:txBody>
      </p:sp>
    </p:spTree>
    <p:extLst>
      <p:ext uri="{BB962C8B-B14F-4D97-AF65-F5344CB8AC3E}">
        <p14:creationId xmlns:p14="http://schemas.microsoft.com/office/powerpoint/2010/main" val="110864544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03E3EB25-F7D1-47D5-8EE2-E5D3F107D4B1}"/>
              </a:ext>
            </a:extLst>
          </p:cNvPr>
          <p:cNvCxnSpPr>
            <a:stCxn xmlns:a="http://schemas.openxmlformats.org/drawingml/2006/main" id="5" idx="2"/>
            <a:endCxn xmlns:a="http://schemas.openxmlformats.org/drawingml/2006/main" id="6" idx="0"/>
          </p:cNvCxnSpPr>
          <p:nvPr/>
        </p:nvCxnSpPr>
        <p:spPr>
          <a:xfrm xmlns:a="http://schemas.openxmlformats.org/drawingml/2006/main">
            <a:off x="6881813" y="1981200"/>
            <a:ext cx="0" cy="733425"/>
          </a:xfrm>
          <a:prstGeom xmlns:a="http://schemas.openxmlformats.org/drawingml/2006/main" prst="straightConnector1">
            <a:avLst/>
          </a:prstGeom>
          <a:ln xmlns:a="http://schemas.openxmlformats.org/drawingml/2006/main" w="11430">
            <a:solidFill>
              <a:srgbClr val="333333"/>
            </a:solidFill>
            <a:headEnd type="arrow" w="sm" len="sm"/>
            <a:tailEnd type="arrow" w="sm" len="sm"/>
          </a:ln>
        </p:spPr>
      </p:cxnSp>
      <p:sp>
        <p:nvSpPr>
          <p:cNvPr id="3" name="">
            <a:extLst xmlns:a="http://schemas.openxmlformats.org/drawingml/2006/main">
              <a:ext uri="{FF2B5EF4-FFF2-40B4-BE49-F238E27FC236}">
                <a16:creationId xmlns:a16="http://schemas.microsoft.com/office/drawing/2014/main" id="{A48BE235-959C-4745-A255-CDAA3CB84291}"/>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Scan Isolation and Privilege Split</a:t>
            </a:r>
          </a:p>
        </p:txBody>
      </p:sp>
      <p:sp>
        <p:nvSpPr>
          <p:cNvPr id="4" name="">
            <a:extLst xmlns:a="http://schemas.openxmlformats.org/drawingml/2006/main">
              <a:ext uri="{FF2B5EF4-FFF2-40B4-BE49-F238E27FC236}">
                <a16:creationId xmlns:a16="http://schemas.microsoft.com/office/drawing/2014/main" id="{09474C9E-12BD-4C4D-A226-9A4D98C40F1C}"/>
              </a:ext>
            </a:extLst>
          </p:cNvPr>
          <p:cNvSpPr>
            <a:spLocks xmlns:a="http://schemas.openxmlformats.org/drawingml/2006/main" noGrp="1"/>
          </p:cNvSpPr>
          <p:nvPr/>
        </p:nvSpPr>
        <p:spPr>
          <a:xfrm xmlns:a="http://schemas.openxmlformats.org/drawingml/2006/main">
            <a:off x="409575" y="1276350"/>
            <a:ext cx="3714750"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Public-facing Express API</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No Docker socket or launcher access</a:t>
            </a:r>
          </a:p>
        </p:txBody>
      </p:sp>
      <p:sp>
        <p:nvSpPr>
          <p:cNvPr id="5" name="">
            <a:extLst xmlns:a="http://schemas.openxmlformats.org/drawingml/2006/main">
              <a:ext uri="{FF2B5EF4-FFF2-40B4-BE49-F238E27FC236}">
                <a16:creationId xmlns:a16="http://schemas.microsoft.com/office/drawing/2014/main" id="{BBE0DB33-6D22-494B-BA67-B157F9A03E0B}"/>
              </a:ext>
            </a:extLst>
          </p:cNvPr>
          <p:cNvSpPr>
            <a:spLocks xmlns:a="http://schemas.openxmlformats.org/drawingml/2006/main" noGrp="1"/>
          </p:cNvSpPr>
          <p:nvPr/>
        </p:nvSpPr>
        <p:spPr>
          <a:xfrm xmlns:a="http://schemas.openxmlformats.org/drawingml/2006/main">
            <a:off x="5029200" y="1276350"/>
            <a:ext cx="370522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Separate worker supervisor</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SQS claim / source fetch / persistence</a:t>
            </a:r>
          </a:p>
        </p:txBody>
      </p:sp>
      <p:sp>
        <p:nvSpPr>
          <p:cNvPr id="6" name="">
            <a:extLst xmlns:a="http://schemas.openxmlformats.org/drawingml/2006/main">
              <a:ext uri="{FF2B5EF4-FFF2-40B4-BE49-F238E27FC236}">
                <a16:creationId xmlns:a16="http://schemas.microsoft.com/office/drawing/2014/main" id="{21ACE325-AC50-4605-B489-E377F3CA2A39}"/>
              </a:ext>
            </a:extLst>
          </p:cNvPr>
          <p:cNvSpPr>
            <a:spLocks xmlns:a="http://schemas.openxmlformats.org/drawingml/2006/main" noGrp="1"/>
          </p:cNvSpPr>
          <p:nvPr/>
        </p:nvSpPr>
        <p:spPr>
          <a:xfrm xmlns:a="http://schemas.openxmlformats.org/drawingml/2006/main">
            <a:off x="5029200" y="2714625"/>
            <a:ext cx="3705225" cy="704850"/>
          </a:xfrm>
          <a:prstGeom xmlns:a="http://schemas.openxmlformats.org/drawingml/2006/main" prst="rect">
            <a:avLst/>
          </a:prstGeom>
          <a:solidFill xmlns:a="http://schemas.openxmlformats.org/drawingml/2006/main">
            <a:srgbClr val="FFFFFF"/>
          </a:solidFill>
          <a:ln xmlns:a="http://schemas.openxmlformats.org/drawingml/2006/main" w="9525">
            <a:solidFill>
              <a:srgbClr val="222222"/>
            </a:solidFill>
          </a:ln>
        </p:spPr>
        <p:txBody>
          <a:bodyPr xmlns:a="http://schemas.openxmlformats.org/drawingml/2006/main" lIns="57150" tIns="57150" rIns="57150" bIns="57150" anchor="ctr"/>
          <a:lstStyle xmlns:a="http://schemas.openxmlformats.org/drawingml/2006/main">
            <a:defPPr algn="ctr">
              <a:defRPr sz="1275">
                <a:solidFill>
                  <a:srgbClr val="222222"/>
                </a:solidFill>
                <a:latin typeface="Arial"/>
                <a:ea typeface="Arial"/>
                <a:cs typeface="Arial"/>
              </a:defRPr>
            </a:defPPr>
            <a:lvl1pPr algn="ctr">
              <a:defRPr sz="1275">
                <a:solidFill>
                  <a:srgbClr val="222222"/>
                </a:solidFill>
                <a:latin typeface="Arial"/>
                <a:ea typeface="Arial"/>
                <a:cs typeface="Arial"/>
              </a:defRPr>
            </a:lvl1pPr>
            <a:lvl2pPr algn="ctr">
              <a:defRPr sz="1275">
                <a:solidFill>
                  <a:srgbClr val="222222"/>
                </a:solidFill>
                <a:latin typeface="Arial"/>
                <a:ea typeface="Arial"/>
                <a:cs typeface="Arial"/>
              </a:defRPr>
            </a:lvl2pPr>
            <a:lvl3pPr algn="ctr">
              <a:defRPr sz="1275">
                <a:solidFill>
                  <a:srgbClr val="222222"/>
                </a:solidFill>
                <a:latin typeface="Arial"/>
                <a:ea typeface="Arial"/>
                <a:cs typeface="Arial"/>
              </a:defRPr>
            </a:lvl3pPr>
            <a:lvl4pPr algn="ctr">
              <a:defRPr sz="1275">
                <a:solidFill>
                  <a:srgbClr val="222222"/>
                </a:solidFill>
                <a:latin typeface="Arial"/>
                <a:ea typeface="Arial"/>
                <a:cs typeface="Arial"/>
              </a:defRPr>
            </a:lvl4pPr>
            <a:lvl5pPr algn="ctr">
              <a:defRPr sz="1275">
                <a:solidFill>
                  <a:srgbClr val="222222"/>
                </a:solidFill>
                <a:latin typeface="Arial"/>
                <a:ea typeface="Arial"/>
                <a:cs typeface="Arial"/>
              </a:defRPr>
            </a:lvl5pPr>
            <a:lvl6pPr algn="ctr">
              <a:defRPr sz="1275">
                <a:solidFill>
                  <a:srgbClr val="222222"/>
                </a:solidFill>
                <a:latin typeface="Arial"/>
                <a:ea typeface="Arial"/>
                <a:cs typeface="Arial"/>
              </a:defRPr>
            </a:lvl6pPr>
            <a:lvl7pPr algn="ctr">
              <a:defRPr sz="1275">
                <a:solidFill>
                  <a:srgbClr val="222222"/>
                </a:solidFill>
                <a:latin typeface="Arial"/>
                <a:ea typeface="Arial"/>
                <a:cs typeface="Arial"/>
              </a:defRPr>
            </a:lvl7pPr>
            <a:lvl8pPr algn="ctr">
              <a:defRPr sz="1275">
                <a:solidFill>
                  <a:srgbClr val="222222"/>
                </a:solidFill>
                <a:latin typeface="Arial"/>
                <a:ea typeface="Arial"/>
                <a:cs typeface="Arial"/>
              </a:defRPr>
            </a:lvl8pPr>
            <a:lvl9pPr algn="ctr">
              <a:defRPr sz="1275">
                <a:solidFill>
                  <a:srgbClr val="222222"/>
                </a:solidFill>
                <a:latin typeface="Arial"/>
                <a:ea typeface="Arial"/>
                <a:cs typeface="Arial"/>
              </a:defRPr>
            </a:lvl9pPr>
          </a:lstStyle>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Fixed Docker scan image</a:t>
            </a:r>
          </a:p>
          <a:p xmlns:a="http://schemas.openxmlformats.org/drawingml/2006/main">
            <a:pPr algn="ctr">
              <a:defRPr sz="1275">
                <a:solidFill>
                  <a:srgbClr val="222222"/>
                </a:solidFill>
                <a:latin typeface="Arial"/>
                <a:ea typeface="Arial"/>
                <a:cs typeface="Arial"/>
              </a:defRPr>
            </a:pPr>
            <a:r>
              <a:rPr sz="1275">
                <a:solidFill>
                  <a:srgbClr val="222222"/>
                </a:solidFill>
                <a:latin typeface="Arial"/>
                <a:ea typeface="Arial"/>
                <a:cs typeface="Arial"/>
              </a:rPr>
              <a:t>All SAST rules / no network / no credentials</a:t>
            </a:r>
          </a:p>
        </p:txBody>
      </p:sp>
      <p:sp>
        <p:nvSpPr>
          <p:cNvPr id="7" name="">
            <a:extLst xmlns:a="http://schemas.openxmlformats.org/drawingml/2006/main">
              <a:ext uri="{FF2B5EF4-FFF2-40B4-BE49-F238E27FC236}">
                <a16:creationId xmlns:a16="http://schemas.microsoft.com/office/drawing/2014/main" id="{0B72A9AF-64CA-435E-862E-7F4F38FB041C}"/>
              </a:ext>
            </a:extLst>
          </p:cNvPr>
          <p:cNvSpPr>
            <a:spLocks xmlns:a="http://schemas.openxmlformats.org/drawingml/2006/main" noGrp="1"/>
          </p:cNvSpPr>
          <p:nvPr/>
        </p:nvSpPr>
        <p:spPr>
          <a:xfrm xmlns:a="http://schemas.openxmlformats.org/drawingml/2006/main">
            <a:off x="409575" y="2466975"/>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algn="l">
              <a:defRPr sz="1500" b="0">
                <a:solidFill>
                  <a:srgbClr val="666666"/>
                </a:solidFill>
                <a:latin typeface="Arial"/>
                <a:ea typeface="Arial"/>
                <a:cs typeface="Arial"/>
              </a:defRPr>
            </a:pPr>
            <a:r>
              <a:rPr sz="1500" b="0">
                <a:solidFill>
                  <a:srgbClr val="666666"/>
                </a:solidFill>
                <a:latin typeface="Arial"/>
                <a:ea typeface="Arial"/>
                <a:cs typeface="Arial"/>
              </a:rPr>
              <a:t>Shared durable job state connects the API and worker.</a:t>
            </a:r>
          </a:p>
          <a:p xmlns:a="http://schemas.openxmlformats.org/drawingml/2006/main">
            <a:pPr algn="l">
              <a:defRPr sz="1500" b="0">
                <a:solidFill>
                  <a:srgbClr val="666666"/>
                </a:solidFill>
                <a:latin typeface="Arial"/>
                <a:ea typeface="Arial"/>
                <a:cs typeface="Arial"/>
              </a:defRPr>
            </a:pPr>
            <a:r>
              <a:rPr sz="1500" b="0">
                <a:solidFill>
                  <a:srgbClr val="666666"/>
                </a:solidFill>
                <a:latin typeface="Arial"/>
                <a:ea typeface="Arial"/>
                <a:cs typeface="Arial"/>
              </a:rPr>
              <a:t>The API never launches arbitrary containers.</a:t>
            </a:r>
          </a:p>
        </p:txBody>
      </p:sp>
      <p:sp>
        <p:nvSpPr>
          <p:cNvPr id="8" name="">
            <a:extLst xmlns:a="http://schemas.openxmlformats.org/drawingml/2006/main">
              <a:ext uri="{FF2B5EF4-FFF2-40B4-BE49-F238E27FC236}">
                <a16:creationId xmlns:a16="http://schemas.microsoft.com/office/drawing/2014/main" id="{A6FFE3AA-23ED-4281-8F3E-E324CAFBA0B2}"/>
              </a:ext>
            </a:extLst>
          </p:cNvPr>
          <p:cNvSpPr>
            <a:spLocks xmlns:a="http://schemas.openxmlformats.org/drawingml/2006/main" noGrp="1"/>
          </p:cNvSpPr>
          <p:nvPr/>
        </p:nvSpPr>
        <p:spPr>
          <a:xfrm xmlns:a="http://schemas.openxmlformats.org/drawingml/2006/main">
            <a:off x="409575" y="3714750"/>
            <a:ext cx="83343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One sandbox per scan, one active scan per node.</a:t>
            </a:r>
          </a:p>
          <a:p xmlns:a="http://schemas.openxmlformats.org/drawingml/2006/main">
            <a:pPr marL="228600" indent="-114300" algn="l">
              <a:spcAft>
                <a:spcPts val="900"/>
              </a:spcAft>
              <a:buChar char="•"/>
              <a:defRPr sz="1500" b="0">
                <a:solidFill>
                  <a:srgbClr val="666666"/>
                </a:solidFill>
                <a:latin typeface="Arial"/>
                <a:ea typeface="Arial"/>
                <a:cs typeface="Arial"/>
              </a:defRPr>
            </a:pPr>
            <a:r>
              <a:t>Proposed limits: 0.5 vCPU, 256 MiB, 10 seconds.</a:t>
            </a:r>
          </a:p>
          <a:p xmlns:a="http://schemas.openxmlformats.org/drawingml/2006/main">
            <a:pPr marL="228600" indent="-114300" algn="l">
              <a:spcAft>
                <a:spcPts val="900"/>
              </a:spcAft>
              <a:buChar char="•"/>
              <a:defRPr sz="1500" b="0">
                <a:solidFill>
                  <a:srgbClr val="666666"/>
                </a:solidFill>
                <a:latin typeface="Arial"/>
                <a:ea typeface="Arial"/>
                <a:cs typeface="Arial"/>
              </a:defRPr>
            </a:pPr>
            <a:r>
              <a:t>Supervisor kills failed jobs and removes containers.</a:t>
            </a:r>
          </a:p>
        </p:txBody>
      </p:sp>
    </p:spTree>
    <p:extLst>
      <p:ext uri="{BB962C8B-B14F-4D97-AF65-F5344CB8AC3E}">
        <p14:creationId xmlns:p14="http://schemas.microsoft.com/office/powerpoint/2010/main" val="198353285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5B0B6ED-5966-43DC-A0C2-8F71AAB502AC}"/>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Acceptance Cases: Scan and Access</a:t>
            </a:r>
          </a:p>
        </p:txBody>
      </p:sp>
      <p:graphicFrame>
        <p:nvGraphicFramePr>
          <p:cNvPr id="3" name="">
            <a:extLst xmlns:a="http://schemas.openxmlformats.org/drawingml/2006/main">
              <a:ext uri="{FF2B5EF4-FFF2-40B4-BE49-F238E27FC236}">
                <a16:creationId xmlns:a16="http://schemas.microsoft.com/office/drawing/2014/main" id="{80E3341F-D0C3-4A1F-B8C9-F96F0ECC1A64}"/>
              </a:ext>
            </a:extLst>
          </p:cNvPr>
          <p:cNvGraphicFramePr/>
          <p:nvPr/>
        </p:nvGraphicFramePr>
        <p:xfrm>
          <a:off xmlns:a="http://schemas.openxmlformats.org/drawingml/2006/main" x="409575" y="1285875"/>
          <a:ext xmlns:a="http://schemas.openxmlformats.org/drawingml/2006/main" cx="8334375" cy="3333750"/>
        </p:xfrm>
        <a:graphic xmlns:a="http://schemas.openxmlformats.org/drawingml/2006/main">
          <a:graphicData uri="http://schemas.openxmlformats.org/drawingml/2006/table">
            <a:tbl>
              <a:tblPr/>
              <a:tblGrid>
                <a:gridCol w="514350"/>
                <a:gridCol w="2819400"/>
                <a:gridCol w="5000625"/>
              </a:tblGrid>
              <a:tr h="303068">
                <a:tc>
                  <a:txBody>
                    <a:bodyPr lIns="66675" tIns="66675" rIns="66675" bIns="66675"/>
                    <a:lstStyle/>
                    <a:p>
                      <a:r>
                        <a:rPr sz="1275" b="1">
                          <a:solidFill>
                            <a:srgbClr val="FFFFFF"/>
                          </a:solidFill>
                          <a:latin typeface="Arial"/>
                          <a:ea typeface="Arial"/>
                          <a:cs typeface="Arial"/>
                        </a:rPr>
                        <a:t>ID</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Input / condition</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Expected outcome</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303068">
                <a:tc>
                  <a:txBody>
                    <a:bodyPr lIns="66675" tIns="66675" rIns="66675" bIns="66675"/>
                    <a:lstStyle/>
                    <a:p>
                      <a:r>
                        <a:rPr sz="1275" b="0">
                          <a:solidFill>
                            <a:srgbClr val="666666"/>
                          </a:solidFill>
                          <a:latin typeface="Arial"/>
                          <a:ea typeface="Arial"/>
                          <a:cs typeface="Arial"/>
                        </a:rPr>
                        <a:t>01</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Vulnerable course fixture</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Complete report, HIGH outcome fails the check.</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02</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Corrected fixture</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Complete report with no blocking findings passes.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03</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MEDIUM-only findings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Pass with visible warnings under HIGH threshold.</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04</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Approved exception</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Suppress the exact finding and show its audit record.</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05</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Invalid / unapproved exception</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Keep HIGH blocking. A PR cannot approve its policy.</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06</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Expired exception</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Keep the finding active and show the expiry.</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07</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No eligible JavaScript</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Return an explicit complete zero-file report.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08</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Oversized or malformed body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Reject with 400 / 413 before queuing work.</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09</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Missing token / wrong repository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Return 401 / 403. No new job or report link.</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10</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Sandbox deadline / memory limit</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Kill the attempt, record error, keep the API healthy.</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67700367-808E-41CA-A25D-71836316416E}"/>
              </a:ext>
            </a:extLst>
          </p:cNvPr>
          <p:cNvSpPr>
            <a:spLocks xmlns:a="http://schemas.openxmlformats.org/drawingml/2006/main" noGrp="1"/>
          </p:cNvSpPr>
          <p:nvPr/>
        </p:nvSpPr>
        <p:spPr>
          <a:xfrm xmlns:a="http://schemas.openxmlformats.org/drawingml/2006/main">
            <a:off x="409575" y="4752975"/>
            <a:ext cx="833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Core cases 1-10. Store evidence by job ID, exact SHA, and scanner / policy version.</a:t>
            </a:r>
          </a:p>
        </p:txBody>
      </p:sp>
    </p:spTree>
    <p:extLst>
      <p:ext uri="{BB962C8B-B14F-4D97-AF65-F5344CB8AC3E}">
        <p14:creationId xmlns:p14="http://schemas.microsoft.com/office/powerpoint/2010/main" val="67223608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5D37479-EF84-49BF-92B9-73D4FB993ECB}"/>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Acceptance Cases: Reliability</a:t>
            </a:r>
          </a:p>
        </p:txBody>
      </p:sp>
      <p:graphicFrame>
        <p:nvGraphicFramePr>
          <p:cNvPr id="3" name="">
            <a:extLst xmlns:a="http://schemas.openxmlformats.org/drawingml/2006/main">
              <a:ext uri="{FF2B5EF4-FFF2-40B4-BE49-F238E27FC236}">
                <a16:creationId xmlns:a16="http://schemas.microsoft.com/office/drawing/2014/main" id="{2484D15E-EDAC-40C8-95E5-72ACD4EC9FC4}"/>
              </a:ext>
            </a:extLst>
          </p:cNvPr>
          <p:cNvGraphicFramePr/>
          <p:nvPr/>
        </p:nvGraphicFramePr>
        <p:xfrm>
          <a:off xmlns:a="http://schemas.openxmlformats.org/drawingml/2006/main" x="409575" y="1285875"/>
          <a:ext xmlns:a="http://schemas.openxmlformats.org/drawingml/2006/main" cx="8334375" cy="3333750"/>
        </p:xfrm>
        <a:graphic xmlns:a="http://schemas.openxmlformats.org/drawingml/2006/main">
          <a:graphicData uri="http://schemas.openxmlformats.org/drawingml/2006/table">
            <a:tbl>
              <a:tblPr/>
              <a:tblGrid>
                <a:gridCol w="514350"/>
                <a:gridCol w="2819400"/>
                <a:gridCol w="5000625"/>
              </a:tblGrid>
              <a:tr h="303068">
                <a:tc>
                  <a:txBody>
                    <a:bodyPr lIns="66675" tIns="66675" rIns="66675" bIns="66675"/>
                    <a:lstStyle/>
                    <a:p>
                      <a:r>
                        <a:rPr sz="1275" b="1">
                          <a:solidFill>
                            <a:srgbClr val="FFFFFF"/>
                          </a:solidFill>
                          <a:latin typeface="Arial"/>
                          <a:ea typeface="Arial"/>
                          <a:cs typeface="Arial"/>
                        </a:rPr>
                        <a:t>ID</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Input / condition</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Expected outcome</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303068">
                <a:tc>
                  <a:txBody>
                    <a:bodyPr lIns="66675" tIns="66675" rIns="66675" bIns="66675"/>
                    <a:lstStyle/>
                    <a:p>
                      <a:r>
                        <a:rPr sz="1275" b="0">
                          <a:solidFill>
                            <a:srgbClr val="666666"/>
                          </a:solidFill>
                          <a:latin typeface="Arial"/>
                          <a:ea typeface="Arial"/>
                          <a:cs typeface="Arial"/>
                        </a:rPr>
                        <a:t>11</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API node fails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ALB uses survivor. ASG replaces the failed host.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12</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Worker node dies mid-scan</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Job reappears after visibility/lease expiry and resumes.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13</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Duplicate message / POST retry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One canonical result. Duplicate delivery is harmless.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14</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Several PRs arrive together</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202 Queued for admitted jobs, then terminal results.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15</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Same PR is pushed repeatedly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Cancel old workflow. Only the newest SHA can pass.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16</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429 / 503 / transport failure</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Use the bounded retry policy, then show an error.</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17</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S3 or DynamoDB commit fails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No passing result. Retry safely or record failure.</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18</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Expired report URL</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Old link fails. Authorized refresh issues a new link.</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19</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Service token rotates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New token works on both nodes. Revoke the old token.</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303068">
                <a:tc>
                  <a:txBody>
                    <a:bodyPr lIns="66675" tIns="66675" rIns="66675" bIns="66675"/>
                    <a:lstStyle/>
                    <a:p>
                      <a:r>
                        <a:rPr sz="1275" b="0">
                          <a:solidFill>
                            <a:srgbClr val="666666"/>
                          </a:solidFill>
                          <a:latin typeface="Arial"/>
                          <a:ea typeface="Arial"/>
                          <a:cs typeface="Arial"/>
                        </a:rPr>
                        <a:t>20</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Concurrent Terraform apply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Shared state lock permits one writer. No state in Git.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2F183EE-43FA-4197-AF04-FC497B6C428D}"/>
              </a:ext>
            </a:extLst>
          </p:cNvPr>
          <p:cNvSpPr>
            <a:spLocks xmlns:a="http://schemas.openxmlformats.org/drawingml/2006/main" noGrp="1"/>
          </p:cNvSpPr>
          <p:nvPr/>
        </p:nvSpPr>
        <p:spPr>
          <a:xfrm xmlns:a="http://schemas.openxmlformats.org/drawingml/2006/main">
            <a:off x="409575" y="4752975"/>
            <a:ext cx="8334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66666"/>
                </a:solidFill>
                <a:latin typeface="Arial"/>
                <a:ea typeface="Arial"/>
                <a:cs typeface="Arial"/>
              </a:defRPr>
            </a:defPPr>
            <a:lvl1pPr algn="l">
              <a:defRPr sz="1350" b="0">
                <a:solidFill>
                  <a:srgbClr val="666666"/>
                </a:solidFill>
                <a:latin typeface="Arial"/>
                <a:ea typeface="Arial"/>
                <a:cs typeface="Arial"/>
              </a:defRPr>
            </a:lvl1pPr>
            <a:lvl2pPr algn="l">
              <a:defRPr sz="1350" b="0">
                <a:solidFill>
                  <a:srgbClr val="666666"/>
                </a:solidFill>
                <a:latin typeface="Arial"/>
                <a:ea typeface="Arial"/>
                <a:cs typeface="Arial"/>
              </a:defRPr>
            </a:lvl2pPr>
            <a:lvl3pPr algn="l">
              <a:defRPr sz="1350" b="0">
                <a:solidFill>
                  <a:srgbClr val="666666"/>
                </a:solidFill>
                <a:latin typeface="Arial"/>
                <a:ea typeface="Arial"/>
                <a:cs typeface="Arial"/>
              </a:defRPr>
            </a:lvl3pPr>
            <a:lvl4pPr algn="l">
              <a:defRPr sz="1350" b="0">
                <a:solidFill>
                  <a:srgbClr val="666666"/>
                </a:solidFill>
                <a:latin typeface="Arial"/>
                <a:ea typeface="Arial"/>
                <a:cs typeface="Arial"/>
              </a:defRPr>
            </a:lvl4pPr>
            <a:lvl5pPr algn="l">
              <a:defRPr sz="1350" b="0">
                <a:solidFill>
                  <a:srgbClr val="666666"/>
                </a:solidFill>
                <a:latin typeface="Arial"/>
                <a:ea typeface="Arial"/>
                <a:cs typeface="Arial"/>
              </a:defRPr>
            </a:lvl5pPr>
            <a:lvl6pPr algn="l">
              <a:defRPr sz="1350" b="0">
                <a:solidFill>
                  <a:srgbClr val="666666"/>
                </a:solidFill>
                <a:latin typeface="Arial"/>
                <a:ea typeface="Arial"/>
                <a:cs typeface="Arial"/>
              </a:defRPr>
            </a:lvl6pPr>
            <a:lvl7pPr algn="l">
              <a:defRPr sz="1350" b="0">
                <a:solidFill>
                  <a:srgbClr val="666666"/>
                </a:solidFill>
                <a:latin typeface="Arial"/>
                <a:ea typeface="Arial"/>
                <a:cs typeface="Arial"/>
              </a:defRPr>
            </a:lvl7pPr>
            <a:lvl8pPr algn="l">
              <a:defRPr sz="1350" b="0">
                <a:solidFill>
                  <a:srgbClr val="666666"/>
                </a:solidFill>
                <a:latin typeface="Arial"/>
                <a:ea typeface="Arial"/>
                <a:cs typeface="Arial"/>
              </a:defRPr>
            </a:lvl8pPr>
            <a:lvl9pPr algn="l">
              <a:defRPr sz="1350" b="0">
                <a:solidFill>
                  <a:srgbClr val="666666"/>
                </a:solidFill>
                <a:latin typeface="Arial"/>
                <a:ea typeface="Arial"/>
                <a:cs typeface="Arial"/>
              </a:defRPr>
            </a:lvl9pPr>
          </a:lstStyle>
          <a:p xmlns:a="http://schemas.openxmlformats.org/drawingml/2006/main">
            <a:pPr algn="l">
              <a:defRPr sz="1350" b="0">
                <a:solidFill>
                  <a:srgbClr val="666666"/>
                </a:solidFill>
                <a:latin typeface="Arial"/>
                <a:ea typeface="Arial"/>
                <a:cs typeface="Arial"/>
              </a:defRPr>
            </a:pPr>
            <a:r>
              <a:rPr sz="1350" b="0">
                <a:solidFill>
                  <a:srgbClr val="666666"/>
                </a:solidFill>
                <a:latin typeface="Arial"/>
                <a:ea typeface="Arial"/>
                <a:cs typeface="Arial"/>
              </a:rPr>
              <a:t>Core cases 11-20. Record actual recovery time and remaining lab limitations.</a:t>
            </a:r>
          </a:p>
        </p:txBody>
      </p:sp>
    </p:spTree>
    <p:extLst>
      <p:ext uri="{BB962C8B-B14F-4D97-AF65-F5344CB8AC3E}">
        <p14:creationId xmlns:p14="http://schemas.microsoft.com/office/powerpoint/2010/main" val="167014745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938580B-D568-4A61-BD24-D7060AB1D916}"/>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API Contract for Implementation</a:t>
            </a:r>
          </a:p>
        </p:txBody>
      </p:sp>
      <p:graphicFrame>
        <p:nvGraphicFramePr>
          <p:cNvPr id="3" name="">
            <a:extLst xmlns:a="http://schemas.openxmlformats.org/drawingml/2006/main">
              <a:ext uri="{FF2B5EF4-FFF2-40B4-BE49-F238E27FC236}">
                <a16:creationId xmlns:a16="http://schemas.microsoft.com/office/drawing/2014/main" id="{B0DCF2FD-ACF2-49F0-86CB-292AB441DC9B}"/>
              </a:ext>
            </a:extLst>
          </p:cNvPr>
          <p:cNvGraphicFramePr/>
          <p:nvPr/>
        </p:nvGraphicFramePr>
        <p:xfrm>
          <a:off xmlns:a="http://schemas.openxmlformats.org/drawingml/2006/main" x="409575" y="1285875"/>
          <a:ext xmlns:a="http://schemas.openxmlformats.org/drawingml/2006/main" cx="8334375" cy="2905125"/>
        </p:xfrm>
        <a:graphic xmlns:a="http://schemas.openxmlformats.org/drawingml/2006/main">
          <a:graphicData uri="http://schemas.openxmlformats.org/drawingml/2006/table">
            <a:tbl>
              <a:tblPr/>
              <a:tblGrid>
                <a:gridCol w="2838450"/>
                <a:gridCol w="5495925"/>
              </a:tblGrid>
              <a:tr h="484188">
                <a:tc>
                  <a:txBody>
                    <a:bodyPr lIns="66675" tIns="66675" rIns="66675" bIns="66675"/>
                    <a:lstStyle/>
                    <a:p>
                      <a:r>
                        <a:rPr sz="1350" b="1">
                          <a:solidFill>
                            <a:srgbClr val="FFFFFF"/>
                          </a:solidFill>
                          <a:latin typeface="Arial"/>
                          <a:ea typeface="Arial"/>
                          <a:cs typeface="Arial"/>
                        </a:rPr>
                        <a:t>Route</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350" b="1">
                          <a:solidFill>
                            <a:srgbClr val="FFFFFF"/>
                          </a:solidFill>
                          <a:latin typeface="Arial"/>
                          <a:ea typeface="Arial"/>
                          <a:cs typeface="Arial"/>
                        </a:rPr>
                        <a:t>Contract / response</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84188">
                <a:tc>
                  <a:txBody>
                    <a:bodyPr lIns="66675" tIns="66675" rIns="66675" bIns="66675"/>
                    <a:lstStyle/>
                    <a:p>
                      <a:r>
                        <a:rPr sz="1350" b="0">
                          <a:solidFill>
                            <a:srgbClr val="666666"/>
                          </a:solidFill>
                          <a:latin typeface="Arial"/>
                          <a:ea typeface="Arial"/>
                          <a:cs typeface="Arial"/>
                        </a:rPr>
                        <a:t>POST /scan-jobs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Bounded files + repo / PR / SHA. 202 after durable queue acceptance.</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GET /scan-jobs/{jobId}</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Repo-authorized state and sanitized summary. Poll every 5 seconds.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POST /scan-jobs/{jobId}/report-link</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Repo-authorized link refresh. 15-minute signed S3 GET URL.</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GET /health and /ready</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Minimal health data. ALB uses /ready on private API port 3000.</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Errors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400 / 413 input, 401 / 403 auth, 409 key conflict, 429 / 503 retryable.</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EC5AEC5-3D9D-4B2E-A067-7FCCFED10993}"/>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Common statuses: SUBMITTING, QUEUED, RUNNING, COMPLETE, ERROR, TIMED_OUT.</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Only COMPLETE plus an outcome bound to the requested SHA can finish the gate.</a:t>
            </a:r>
          </a:p>
        </p:txBody>
      </p:sp>
    </p:spTree>
    <p:extLst>
      <p:ext uri="{BB962C8B-B14F-4D97-AF65-F5344CB8AC3E}">
        <p14:creationId xmlns:p14="http://schemas.microsoft.com/office/powerpoint/2010/main" val="164973269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EFC1121-8CC7-4DBC-9FE3-364165D53362}"/>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Queue, Leases, and Idempotency</a:t>
            </a:r>
          </a:p>
        </p:txBody>
      </p:sp>
      <p:sp>
        <p:nvSpPr>
          <p:cNvPr id="3" name="">
            <a:extLst xmlns:a="http://schemas.openxmlformats.org/drawingml/2006/main">
              <a:ext uri="{FF2B5EF4-FFF2-40B4-BE49-F238E27FC236}">
                <a16:creationId xmlns:a16="http://schemas.microsoft.com/office/drawing/2014/main" id="{7138B53C-30E4-4FCD-AFF9-94FA6A4CB062}"/>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Durable submission</a:t>
            </a:r>
          </a:p>
        </p:txBody>
      </p:sp>
      <p:sp>
        <p:nvSpPr>
          <p:cNvPr id="4" name="">
            <a:extLst xmlns:a="http://schemas.openxmlformats.org/drawingml/2006/main">
              <a:ext uri="{FF2B5EF4-FFF2-40B4-BE49-F238E27FC236}">
                <a16:creationId xmlns:a16="http://schemas.microsoft.com/office/drawing/2014/main" id="{C981BE96-EBAF-4D39-B3B1-96425E59B18D}"/>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Persist source and a DynamoDB job/outbox record before sending its SQS message.</a:t>
            </a:r>
          </a:p>
          <a:p xmlns:a="http://schemas.openxmlformats.org/drawingml/2006/main">
            <a:pPr marL="228600" indent="-114300" algn="l">
              <a:spcAft>
                <a:spcPts val="900"/>
              </a:spcAft>
              <a:buChar char="•"/>
              <a:defRPr sz="1500" b="0">
                <a:solidFill>
                  <a:srgbClr val="666666"/>
                </a:solidFill>
                <a:latin typeface="Arial"/>
                <a:ea typeface="Arial"/>
                <a:cs typeface="Arial"/>
              </a:defRPr>
            </a:pPr>
            <a:r>
              <a:t>Return 202 only after SQS accepts the message. Retry unfinished enqueue work.</a:t>
            </a:r>
          </a:p>
          <a:p xmlns:a="http://schemas.openxmlformats.org/drawingml/2006/main">
            <a:pPr marL="228600" indent="-114300" algn="l">
              <a:spcAft>
                <a:spcPts val="900"/>
              </a:spcAft>
              <a:buChar char="•"/>
              <a:defRPr sz="1500" b="0">
                <a:solidFill>
                  <a:srgbClr val="666666"/>
                </a:solidFill>
                <a:latin typeface="Arial"/>
                <a:ea typeface="Arial"/>
                <a:cs typeface="Arial"/>
              </a:defRPr>
            </a:pPr>
            <a:r>
              <a:t>Repeated POSTs and SQS deliveries reuse the same stable job identity.</a:t>
            </a:r>
          </a:p>
        </p:txBody>
      </p:sp>
      <p:sp>
        <p:nvSpPr>
          <p:cNvPr id="5" name="">
            <a:extLst xmlns:a="http://schemas.openxmlformats.org/drawingml/2006/main">
              <a:ext uri="{FF2B5EF4-FFF2-40B4-BE49-F238E27FC236}">
                <a16:creationId xmlns:a16="http://schemas.microsoft.com/office/drawing/2014/main" id="{EF801BE7-C8B7-4F90-A657-7F432CD752B7}"/>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Safe processing</a:t>
            </a:r>
          </a:p>
        </p:txBody>
      </p:sp>
      <p:sp>
        <p:nvSpPr>
          <p:cNvPr id="6" name="">
            <a:extLst xmlns:a="http://schemas.openxmlformats.org/drawingml/2006/main">
              <a:ext uri="{FF2B5EF4-FFF2-40B4-BE49-F238E27FC236}">
                <a16:creationId xmlns:a16="http://schemas.microsoft.com/office/drawing/2014/main" id="{897BB3A1-6CC4-4DB9-B7BD-66A1F3052D94}"/>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Claim RUNNING with an atomic lease. Only its current owner can commit the result.</a:t>
            </a:r>
          </a:p>
          <a:p xmlns:a="http://schemas.openxmlformats.org/drawingml/2006/main">
            <a:pPr marL="228600" indent="-114300" algn="l">
              <a:spcAft>
                <a:spcPts val="900"/>
              </a:spcAft>
              <a:buChar char="•"/>
              <a:defRPr sz="1500" b="0">
                <a:solidFill>
                  <a:srgbClr val="666666"/>
                </a:solidFill>
                <a:latin typeface="Arial"/>
                <a:ea typeface="Arial"/>
                <a:cs typeface="Arial"/>
              </a:defRPr>
            </a:pPr>
            <a:r>
              <a:t>Start with 90-second queue visibility / lease and renew during processing.</a:t>
            </a:r>
          </a:p>
          <a:p xmlns:a="http://schemas.openxmlformats.org/drawingml/2006/main">
            <a:pPr marL="228600" indent="-114300" algn="l">
              <a:spcAft>
                <a:spcPts val="900"/>
              </a:spcAft>
              <a:buChar char="•"/>
              <a:defRPr sz="1500" b="0">
                <a:solidFill>
                  <a:srgbClr val="666666"/>
                </a:solidFill>
                <a:latin typeface="Arial"/>
                <a:ea typeface="Arial"/>
                <a:cs typeface="Arial"/>
              </a:defRPr>
            </a:pPr>
            <a:r>
              <a:t>Write report, commit its pointer, then delete the queue message.</a:t>
            </a:r>
          </a:p>
        </p:txBody>
      </p:sp>
      <p:sp>
        <p:nvSpPr>
          <p:cNvPr id="7" name="">
            <a:extLst xmlns:a="http://schemas.openxmlformats.org/drawingml/2006/main">
              <a:ext uri="{FF2B5EF4-FFF2-40B4-BE49-F238E27FC236}">
                <a16:creationId xmlns:a16="http://schemas.microsoft.com/office/drawing/2014/main" id="{8547B0A6-31EF-493B-B6BC-983346B9D908}"/>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A crashed worker loses its lease and the unacknowledged job becomes available again.</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Do not promise exactly-once execution. Make duplicate work and commits safe.</a:t>
            </a:r>
          </a:p>
        </p:txBody>
      </p:sp>
    </p:spTree>
    <p:extLst>
      <p:ext uri="{BB962C8B-B14F-4D97-AF65-F5344CB8AC3E}">
        <p14:creationId xmlns:p14="http://schemas.microsoft.com/office/powerpoint/2010/main" val="210065893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5B699C-BCDB-4C48-B136-921186259708}"/>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Workflow Retries and Queueing</a:t>
            </a:r>
          </a:p>
        </p:txBody>
      </p:sp>
      <p:graphicFrame>
        <p:nvGraphicFramePr>
          <p:cNvPr id="3" name="">
            <a:extLst xmlns:a="http://schemas.openxmlformats.org/drawingml/2006/main">
              <a:ext uri="{FF2B5EF4-FFF2-40B4-BE49-F238E27FC236}">
                <a16:creationId xmlns:a16="http://schemas.microsoft.com/office/drawing/2014/main" id="{1C7D8979-7D73-4A6D-8731-AD5EF095879A}"/>
              </a:ext>
            </a:extLst>
          </p:cNvPr>
          <p:cNvGraphicFramePr/>
          <p:nvPr/>
        </p:nvGraphicFramePr>
        <p:xfrm>
          <a:off xmlns:a="http://schemas.openxmlformats.org/drawingml/2006/main" x="409575" y="1285875"/>
          <a:ext xmlns:a="http://schemas.openxmlformats.org/drawingml/2006/main" cx="8334375" cy="2905125"/>
        </p:xfrm>
        <a:graphic xmlns:a="http://schemas.openxmlformats.org/drawingml/2006/main">
          <a:graphicData uri="http://schemas.openxmlformats.org/drawingml/2006/table">
            <a:tbl>
              <a:tblPr/>
              <a:tblGrid>
                <a:gridCol w="2724150"/>
                <a:gridCol w="5610225"/>
              </a:tblGrid>
              <a:tr h="484188">
                <a:tc>
                  <a:txBody>
                    <a:bodyPr lIns="66675" tIns="66675" rIns="66675" bIns="66675"/>
                    <a:lstStyle/>
                    <a:p>
                      <a:r>
                        <a:rPr sz="1350" b="1">
                          <a:solidFill>
                            <a:srgbClr val="FFFFFF"/>
                          </a:solidFill>
                          <a:latin typeface="Arial"/>
                          <a:ea typeface="Arial"/>
                          <a:cs typeface="Arial"/>
                        </a:rPr>
                        <a:t>Situation</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350" b="1">
                          <a:solidFill>
                            <a:srgbClr val="FFFFFF"/>
                          </a:solidFill>
                          <a:latin typeface="Arial"/>
                          <a:ea typeface="Arial"/>
                          <a:cs typeface="Arial"/>
                        </a:rPr>
                        <a:t>Developer sees / workflow action</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84188">
                <a:tc>
                  <a:txBody>
                    <a:bodyPr lIns="66675" tIns="66675" rIns="66675" bIns="66675"/>
                    <a:lstStyle/>
                    <a:p>
                      <a:r>
                        <a:rPr sz="1350" b="0">
                          <a:solidFill>
                            <a:srgbClr val="666666"/>
                          </a:solidFill>
                          <a:latin typeface="Arial"/>
                          <a:ea typeface="Arial"/>
                          <a:cs typeface="Arial"/>
                        </a:rPr>
                        <a:t>Workers are occupied</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202 + job ID. Show Queued, then Running. No capacity-busy retries.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API rate limit / transient outage</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At most 3 retries: 2s, 5s, 10s + jitter. Same idempotency key.</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Job still not terminal at 5 minutes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Fail as infrastructure timeout. Keep the job ID and rerun instruction.</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Another push to the same PR</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Cancel older workflow. Require the new commit's own result.</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Several different PRs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Each has its own concurrency group and queued job.</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C500668-DCBA-46ED-9D2D-31692E159645}"/>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Before host 2: Shared job state, atomic leases, idempotency, queue recovery, and burst tests.</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Adding an instance alone cannot fix lost jobs or incorrect check results.</a:t>
            </a:r>
          </a:p>
        </p:txBody>
      </p:sp>
    </p:spTree>
    <p:extLst>
      <p:ext uri="{BB962C8B-B14F-4D97-AF65-F5344CB8AC3E}">
        <p14:creationId xmlns:p14="http://schemas.microsoft.com/office/powerpoint/2010/main" val="19656022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7BB626F-C27D-4151-915D-3604C3500460}"/>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Service Token Storage and Rotation</a:t>
            </a:r>
          </a:p>
        </p:txBody>
      </p:sp>
      <p:sp>
        <p:nvSpPr>
          <p:cNvPr id="3" name="">
            <a:extLst xmlns:a="http://schemas.openxmlformats.org/drawingml/2006/main">
              <a:ext uri="{FF2B5EF4-FFF2-40B4-BE49-F238E27FC236}">
                <a16:creationId xmlns:a16="http://schemas.microsoft.com/office/drawing/2014/main" id="{C61C2072-B260-41DE-9F3F-9A8277AF99F3}"/>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Storage and scope</a:t>
            </a:r>
          </a:p>
        </p:txBody>
      </p:sp>
      <p:sp>
        <p:nvSpPr>
          <p:cNvPr id="4" name="">
            <a:extLst xmlns:a="http://schemas.openxmlformats.org/drawingml/2006/main">
              <a:ext uri="{FF2B5EF4-FFF2-40B4-BE49-F238E27FC236}">
                <a16:creationId xmlns:a16="http://schemas.microsoft.com/office/drawing/2014/main" id="{045621B9-5027-4B4F-96AC-870D0E75521D}"/>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GitHub Actions secret SAST_SERVICE_TOKEN holds the client bearer token.</a:t>
            </a:r>
          </a:p>
          <a:p xmlns:a="http://schemas.openxmlformats.org/drawingml/2006/main">
            <a:pPr marL="228600" indent="-114300" algn="l">
              <a:spcAft>
                <a:spcPts val="900"/>
              </a:spcAft>
              <a:buChar char="•"/>
              <a:defRPr sz="1500" b="0">
                <a:solidFill>
                  <a:srgbClr val="666666"/>
                </a:solidFill>
                <a:latin typeface="Arial"/>
                <a:ea typeface="Arial"/>
                <a:cs typeface="Arial"/>
              </a:defRPr>
            </a:pPr>
            <a:r>
              <a:t>Parameter Store SecureString holds current / previous token hashes and allowed repo ID.</a:t>
            </a:r>
          </a:p>
          <a:p xmlns:a="http://schemas.openxmlformats.org/drawingml/2006/main">
            <a:pPr marL="228600" indent="-114300" algn="l">
              <a:spcAft>
                <a:spcPts val="900"/>
              </a:spcAft>
              <a:buChar char="•"/>
              <a:defRPr sz="1500" b="0">
                <a:solidFill>
                  <a:srgbClr val="666666"/>
                </a:solidFill>
                <a:latin typeface="Arial"/>
                <a:ea typeface="Arial"/>
                <a:cs typeface="Arial"/>
              </a:defRPr>
            </a:pPr>
            <a:r>
              <a:t>Each API refreshes this verifier configuration every 60 seconds. No token in images.</a:t>
            </a:r>
          </a:p>
        </p:txBody>
      </p:sp>
      <p:sp>
        <p:nvSpPr>
          <p:cNvPr id="5" name="">
            <a:extLst xmlns:a="http://schemas.openxmlformats.org/drawingml/2006/main">
              <a:ext uri="{FF2B5EF4-FFF2-40B4-BE49-F238E27FC236}">
                <a16:creationId xmlns:a16="http://schemas.microsoft.com/office/drawing/2014/main" id="{020489F8-E11D-422E-95A8-D4D0A8EB4707}"/>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Rotation procedure</a:t>
            </a:r>
          </a:p>
        </p:txBody>
      </p:sp>
      <p:sp>
        <p:nvSpPr>
          <p:cNvPr id="6" name="">
            <a:extLst xmlns:a="http://schemas.openxmlformats.org/drawingml/2006/main">
              <a:ext uri="{FF2B5EF4-FFF2-40B4-BE49-F238E27FC236}">
                <a16:creationId xmlns:a16="http://schemas.microsoft.com/office/drawing/2014/main" id="{4A0F3691-6832-4DE9-A0C5-DDCE8411943C}"/>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Generate a new random token and add its verifier while retaining the old hash.</a:t>
            </a:r>
          </a:p>
          <a:p xmlns:a="http://schemas.openxmlformats.org/drawingml/2006/main">
            <a:pPr marL="228600" indent="-114300" algn="l">
              <a:spcAft>
                <a:spcPts val="900"/>
              </a:spcAft>
              <a:buChar char="•"/>
              <a:defRPr sz="1500" b="0">
                <a:solidFill>
                  <a:srgbClr val="666666"/>
                </a:solidFill>
                <a:latin typeface="Arial"/>
                <a:ea typeface="Arial"/>
                <a:cs typeface="Arial"/>
              </a:defRPr>
            </a:pPr>
            <a:r>
              <a:t>After both nodes refresh, update the GitHub secret and run a probe on each node.</a:t>
            </a:r>
          </a:p>
          <a:p xmlns:a="http://schemas.openxmlformats.org/drawingml/2006/main">
            <a:pPr marL="228600" indent="-114300" algn="l">
              <a:spcAft>
                <a:spcPts val="900"/>
              </a:spcAft>
              <a:buChar char="•"/>
              <a:defRPr sz="1500" b="0">
                <a:solidFill>
                  <a:srgbClr val="666666"/>
                </a:solidFill>
                <a:latin typeface="Arial"/>
                <a:ea typeface="Arial"/>
                <a:cs typeface="Arial"/>
              </a:defRPr>
            </a:pPr>
            <a:r>
              <a:t>Keep a 10-minute overlap, then remove the old hash and verify old-token rejection.</a:t>
            </a:r>
          </a:p>
        </p:txBody>
      </p:sp>
      <p:sp>
        <p:nvSpPr>
          <p:cNvPr id="7" name="">
            <a:extLst xmlns:a="http://schemas.openxmlformats.org/drawingml/2006/main">
              <a:ext uri="{FF2B5EF4-FFF2-40B4-BE49-F238E27FC236}">
                <a16:creationId xmlns:a16="http://schemas.microsoft.com/office/drawing/2014/main" id="{AAA7977A-CE7C-4615-B160-05F311C348BF}"/>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Rotate after exposure or a member change, and before the final demo. Aditya owns the runbook.</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Never put bearer values in Terraform variables, state, user-data, reports, or logs.</a:t>
            </a:r>
          </a:p>
        </p:txBody>
      </p:sp>
    </p:spTree>
    <p:extLst>
      <p:ext uri="{BB962C8B-B14F-4D97-AF65-F5344CB8AC3E}">
        <p14:creationId xmlns:p14="http://schemas.microsoft.com/office/powerpoint/2010/main" val="166310651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DAA0785-57F0-405A-858E-AB2B327AA42B}"/>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Terraform and Remote State</a:t>
            </a:r>
          </a:p>
        </p:txBody>
      </p:sp>
      <p:sp>
        <p:nvSpPr>
          <p:cNvPr id="3" name="">
            <a:extLst xmlns:a="http://schemas.openxmlformats.org/drawingml/2006/main">
              <a:ext uri="{FF2B5EF4-FFF2-40B4-BE49-F238E27FC236}">
                <a16:creationId xmlns:a16="http://schemas.microsoft.com/office/drawing/2014/main" id="{48B62BF2-978B-4B36-9B06-470049FFF0FA}"/>
              </a:ext>
            </a:extLst>
          </p:cNvPr>
          <p:cNvSpPr>
            <a:spLocks xmlns:a="http://schemas.openxmlformats.org/drawingml/2006/main" noGrp="1"/>
          </p:cNvSpPr>
          <p:nvPr/>
        </p:nvSpPr>
        <p:spPr>
          <a:xfrm xmlns:a="http://schemas.openxmlformats.org/drawingml/2006/main">
            <a:off x="409575" y="1285875"/>
            <a:ext cx="4048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What Terraform owns</a:t>
            </a:r>
          </a:p>
        </p:txBody>
      </p:sp>
      <p:sp>
        <p:nvSpPr>
          <p:cNvPr id="4" name="">
            <a:extLst xmlns:a="http://schemas.openxmlformats.org/drawingml/2006/main">
              <a:ext uri="{FF2B5EF4-FFF2-40B4-BE49-F238E27FC236}">
                <a16:creationId xmlns:a16="http://schemas.microsoft.com/office/drawing/2014/main" id="{F3936495-6CCD-490F-BCB9-40E0DDEB2675}"/>
              </a:ext>
            </a:extLst>
          </p:cNvPr>
          <p:cNvSpPr>
            <a:spLocks xmlns:a="http://schemas.openxmlformats.org/drawingml/2006/main" noGrp="1"/>
          </p:cNvSpPr>
          <p:nvPr/>
        </p:nvSpPr>
        <p:spPr>
          <a:xfrm xmlns:a="http://schemas.openxmlformats.org/drawingml/2006/main">
            <a:off x="409575" y="1666875"/>
            <a:ext cx="4048125"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VPC, subnets, routes, NAT, ALB, launch template, ASG, security groups.</a:t>
            </a:r>
          </a:p>
          <a:p xmlns:a="http://schemas.openxmlformats.org/drawingml/2006/main">
            <a:pPr marL="228600" indent="-114300" algn="l">
              <a:spcAft>
                <a:spcPts val="900"/>
              </a:spcAft>
              <a:buChar char="•"/>
              <a:defRPr sz="1500" b="0">
                <a:solidFill>
                  <a:srgbClr val="666666"/>
                </a:solidFill>
                <a:latin typeface="Arial"/>
                <a:ea typeface="Arial"/>
                <a:cs typeface="Arial"/>
              </a:defRPr>
            </a:pPr>
            <a:r>
              <a:t>S3, SQS / DLQ, DynamoDB, ECR, logs, alarms, and configuration references.</a:t>
            </a:r>
          </a:p>
          <a:p xmlns:a="http://schemas.openxmlformats.org/drawingml/2006/main">
            <a:pPr marL="228600" indent="-114300" algn="l">
              <a:spcAft>
                <a:spcPts val="900"/>
              </a:spcAft>
              <a:buChar char="•"/>
              <a:defRPr sz="1500" b="0">
                <a:solidFill>
                  <a:srgbClr val="666666"/>
                </a:solidFill>
                <a:latin typeface="Arial"/>
                <a:ea typeface="Arial"/>
                <a:cs typeface="Arial"/>
              </a:defRPr>
            </a:pPr>
            <a:r>
              <a:t>Inputs reference permitted lab roles, certificate ARN, image digest, and environment.</a:t>
            </a:r>
          </a:p>
        </p:txBody>
      </p:sp>
      <p:sp>
        <p:nvSpPr>
          <p:cNvPr id="5" name="">
            <a:extLst xmlns:a="http://schemas.openxmlformats.org/drawingml/2006/main">
              <a:ext uri="{FF2B5EF4-FFF2-40B4-BE49-F238E27FC236}">
                <a16:creationId xmlns:a16="http://schemas.microsoft.com/office/drawing/2014/main" id="{5C79CB4D-D4CE-4256-84A3-70257F470761}"/>
              </a:ext>
            </a:extLst>
          </p:cNvPr>
          <p:cNvSpPr>
            <a:spLocks xmlns:a="http://schemas.openxmlformats.org/drawingml/2006/main" noGrp="1"/>
          </p:cNvSpPr>
          <p:nvPr/>
        </p:nvSpPr>
        <p:spPr>
          <a:xfrm xmlns:a="http://schemas.openxmlformats.org/drawingml/2006/main">
            <a:off x="4838700" y="12858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66666"/>
                </a:solidFill>
                <a:latin typeface="Arial"/>
                <a:ea typeface="Arial"/>
                <a:cs typeface="Arial"/>
              </a:defRPr>
            </a:defPPr>
            <a:lvl1pPr algn="l">
              <a:defRPr sz="1650" b="1">
                <a:solidFill>
                  <a:srgbClr val="666666"/>
                </a:solidFill>
                <a:latin typeface="Arial"/>
                <a:ea typeface="Arial"/>
                <a:cs typeface="Arial"/>
              </a:defRPr>
            </a:lvl1pPr>
            <a:lvl2pPr algn="l">
              <a:defRPr sz="1650" b="1">
                <a:solidFill>
                  <a:srgbClr val="666666"/>
                </a:solidFill>
                <a:latin typeface="Arial"/>
                <a:ea typeface="Arial"/>
                <a:cs typeface="Arial"/>
              </a:defRPr>
            </a:lvl2pPr>
            <a:lvl3pPr algn="l">
              <a:defRPr sz="1650" b="1">
                <a:solidFill>
                  <a:srgbClr val="666666"/>
                </a:solidFill>
                <a:latin typeface="Arial"/>
                <a:ea typeface="Arial"/>
                <a:cs typeface="Arial"/>
              </a:defRPr>
            </a:lvl3pPr>
            <a:lvl4pPr algn="l">
              <a:defRPr sz="1650" b="1">
                <a:solidFill>
                  <a:srgbClr val="666666"/>
                </a:solidFill>
                <a:latin typeface="Arial"/>
                <a:ea typeface="Arial"/>
                <a:cs typeface="Arial"/>
              </a:defRPr>
            </a:lvl4pPr>
            <a:lvl5pPr algn="l">
              <a:defRPr sz="1650" b="1">
                <a:solidFill>
                  <a:srgbClr val="666666"/>
                </a:solidFill>
                <a:latin typeface="Arial"/>
                <a:ea typeface="Arial"/>
                <a:cs typeface="Arial"/>
              </a:defRPr>
            </a:lvl5pPr>
            <a:lvl6pPr algn="l">
              <a:defRPr sz="1650" b="1">
                <a:solidFill>
                  <a:srgbClr val="666666"/>
                </a:solidFill>
                <a:latin typeface="Arial"/>
                <a:ea typeface="Arial"/>
                <a:cs typeface="Arial"/>
              </a:defRPr>
            </a:lvl6pPr>
            <a:lvl7pPr algn="l">
              <a:defRPr sz="1650" b="1">
                <a:solidFill>
                  <a:srgbClr val="666666"/>
                </a:solidFill>
                <a:latin typeface="Arial"/>
                <a:ea typeface="Arial"/>
                <a:cs typeface="Arial"/>
              </a:defRPr>
            </a:lvl7pPr>
            <a:lvl8pPr algn="l">
              <a:defRPr sz="1650" b="1">
                <a:solidFill>
                  <a:srgbClr val="666666"/>
                </a:solidFill>
                <a:latin typeface="Arial"/>
                <a:ea typeface="Arial"/>
                <a:cs typeface="Arial"/>
              </a:defRPr>
            </a:lvl8pPr>
            <a:lvl9pPr algn="l">
              <a:defRPr sz="1650" b="1">
                <a:solidFill>
                  <a:srgbClr val="666666"/>
                </a:solidFill>
                <a:latin typeface="Arial"/>
                <a:ea typeface="Arial"/>
                <a:cs typeface="Arial"/>
              </a:defRPr>
            </a:lvl9pPr>
          </a:lstStyle>
          <a:p xmlns:a="http://schemas.openxmlformats.org/drawingml/2006/main">
            <a:pPr algn="l">
              <a:defRPr sz="1650" b="1">
                <a:solidFill>
                  <a:srgbClr val="666666"/>
                </a:solidFill>
                <a:latin typeface="Arial"/>
                <a:ea typeface="Arial"/>
                <a:cs typeface="Arial"/>
              </a:defRPr>
            </a:pPr>
            <a:r>
              <a:rPr sz="1650" b="1">
                <a:solidFill>
                  <a:srgbClr val="666666"/>
                </a:solidFill>
                <a:latin typeface="Arial"/>
                <a:ea typeface="Arial"/>
                <a:cs typeface="Arial"/>
              </a:rPr>
              <a:t>Where state lives</a:t>
            </a:r>
          </a:p>
        </p:txBody>
      </p:sp>
      <p:sp>
        <p:nvSpPr>
          <p:cNvPr id="6" name="">
            <a:extLst xmlns:a="http://schemas.openxmlformats.org/drawingml/2006/main">
              <a:ext uri="{FF2B5EF4-FFF2-40B4-BE49-F238E27FC236}">
                <a16:creationId xmlns:a16="http://schemas.microsoft.com/office/drawing/2014/main" id="{DC303A29-833C-44FB-9E3C-8DF216E1624E}"/>
              </a:ext>
            </a:extLst>
          </p:cNvPr>
          <p:cNvSpPr>
            <a:spLocks xmlns:a="http://schemas.openxmlformats.org/drawingml/2006/main" noGrp="1"/>
          </p:cNvSpPr>
          <p:nvPr/>
        </p:nvSpPr>
        <p:spPr>
          <a:xfrm xmlns:a="http://schemas.openxmlformats.org/drawingml/2006/main">
            <a:off x="4838700" y="1666875"/>
            <a:ext cx="3905250" cy="2543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666666"/>
                </a:solidFill>
                <a:latin typeface="Arial"/>
                <a:ea typeface="Arial"/>
                <a:cs typeface="Arial"/>
              </a:defRPr>
            </a:defPPr>
            <a:lvl1pPr algn="l">
              <a:defRPr sz="1500" b="0">
                <a:solidFill>
                  <a:srgbClr val="666666"/>
                </a:solidFill>
                <a:latin typeface="Arial"/>
                <a:ea typeface="Arial"/>
                <a:cs typeface="Arial"/>
              </a:defRPr>
            </a:lvl1pPr>
            <a:lvl2pPr algn="l">
              <a:defRPr sz="1500" b="0">
                <a:solidFill>
                  <a:srgbClr val="666666"/>
                </a:solidFill>
                <a:latin typeface="Arial"/>
                <a:ea typeface="Arial"/>
                <a:cs typeface="Arial"/>
              </a:defRPr>
            </a:lvl2pPr>
            <a:lvl3pPr algn="l">
              <a:defRPr sz="1500" b="0">
                <a:solidFill>
                  <a:srgbClr val="666666"/>
                </a:solidFill>
                <a:latin typeface="Arial"/>
                <a:ea typeface="Arial"/>
                <a:cs typeface="Arial"/>
              </a:defRPr>
            </a:lvl3pPr>
            <a:lvl4pPr algn="l">
              <a:defRPr sz="1500" b="0">
                <a:solidFill>
                  <a:srgbClr val="666666"/>
                </a:solidFill>
                <a:latin typeface="Arial"/>
                <a:ea typeface="Arial"/>
                <a:cs typeface="Arial"/>
              </a:defRPr>
            </a:lvl4pPr>
            <a:lvl5pPr algn="l">
              <a:defRPr sz="1500" b="0">
                <a:solidFill>
                  <a:srgbClr val="666666"/>
                </a:solidFill>
                <a:latin typeface="Arial"/>
                <a:ea typeface="Arial"/>
                <a:cs typeface="Arial"/>
              </a:defRPr>
            </a:lvl5pPr>
            <a:lvl6pPr algn="l">
              <a:defRPr sz="1500" b="0">
                <a:solidFill>
                  <a:srgbClr val="666666"/>
                </a:solidFill>
                <a:latin typeface="Arial"/>
                <a:ea typeface="Arial"/>
                <a:cs typeface="Arial"/>
              </a:defRPr>
            </a:lvl6pPr>
            <a:lvl7pPr algn="l">
              <a:defRPr sz="1500" b="0">
                <a:solidFill>
                  <a:srgbClr val="666666"/>
                </a:solidFill>
                <a:latin typeface="Arial"/>
                <a:ea typeface="Arial"/>
                <a:cs typeface="Arial"/>
              </a:defRPr>
            </a:lvl7pPr>
            <a:lvl8pPr algn="l">
              <a:defRPr sz="1500" b="0">
                <a:solidFill>
                  <a:srgbClr val="666666"/>
                </a:solidFill>
                <a:latin typeface="Arial"/>
                <a:ea typeface="Arial"/>
                <a:cs typeface="Arial"/>
              </a:defRPr>
            </a:lvl8pPr>
            <a:lvl9pPr algn="l">
              <a:defRPr sz="1500" b="0">
                <a:solidFill>
                  <a:srgbClr val="666666"/>
                </a:solidFill>
                <a:latin typeface="Arial"/>
                <a:ea typeface="Arial"/>
                <a:cs typeface="Arial"/>
              </a:defRPr>
            </a:lvl9pPr>
          </a:lstStyle>
          <a:p xmlns:a="http://schemas.openxmlformats.org/drawingml/2006/main">
            <a:pPr marL="228600" indent="-114300" algn="l">
              <a:spcAft>
                <a:spcPts val="900"/>
              </a:spcAft>
              <a:buChar char="•"/>
              <a:defRPr sz="1500" b="0">
                <a:solidFill>
                  <a:srgbClr val="666666"/>
                </a:solidFill>
                <a:latin typeface="Arial"/>
                <a:ea typeface="Arial"/>
                <a:cs typeface="Arial"/>
              </a:defRPr>
            </a:pPr>
            <a:r>
              <a:t>Separate private S3 state bucket. Key: cs6620/dev/terraform.tfstate.</a:t>
            </a:r>
          </a:p>
          <a:p xmlns:a="http://schemas.openxmlformats.org/drawingml/2006/main">
            <a:pPr marL="228600" indent="-114300" algn="l">
              <a:spcAft>
                <a:spcPts val="900"/>
              </a:spcAft>
              <a:buChar char="•"/>
              <a:defRPr sz="1500" b="0">
                <a:solidFill>
                  <a:srgbClr val="666666"/>
                </a:solidFill>
                <a:latin typeface="Arial"/>
                <a:ea typeface="Arial"/>
                <a:cs typeface="Arial"/>
              </a:defRPr>
            </a:pPr>
            <a:r>
              <a:t>Enable encryption, versioning, Block Public Access, and native S3 lockfiles.</a:t>
            </a:r>
          </a:p>
          <a:p xmlns:a="http://schemas.openxmlformats.org/drawingml/2006/main">
            <a:pPr marL="228600" indent="-114300" algn="l">
              <a:spcAft>
                <a:spcPts val="900"/>
              </a:spcAft>
              <a:buChar char="•"/>
              <a:defRPr sz="1500" b="0">
                <a:solidFill>
                  <a:srgbClr val="666666"/>
                </a:solidFill>
                <a:latin typeface="Arial"/>
                <a:ea typeface="Arial"/>
                <a:cs typeface="Arial"/>
              </a:defRPr>
            </a:pPr>
            <a:r>
              <a:t>One shared backend for all three members. Never commit state or live secrets.</a:t>
            </a:r>
          </a:p>
        </p:txBody>
      </p:sp>
      <p:sp>
        <p:nvSpPr>
          <p:cNvPr id="7" name="">
            <a:extLst xmlns:a="http://schemas.openxmlformats.org/drawingml/2006/main">
              <a:ext uri="{FF2B5EF4-FFF2-40B4-BE49-F238E27FC236}">
                <a16:creationId xmlns:a16="http://schemas.microsoft.com/office/drawing/2014/main" id="{31985885-BD42-44A4-8AC2-02669FA52356}"/>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Use use_lockfile = true with a pinned Terraform version that supports it.</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Keep the dependency lockfile in Git. The state bucket has no report-download route.</a:t>
            </a:r>
          </a:p>
        </p:txBody>
      </p:sp>
    </p:spTree>
    <p:extLst>
      <p:ext uri="{BB962C8B-B14F-4D97-AF65-F5344CB8AC3E}">
        <p14:creationId xmlns:p14="http://schemas.microsoft.com/office/powerpoint/2010/main" val="41499881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924BA2E-F33A-4427-A91B-FFA6DD314D4E}"/>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Foundation and Handoff Package</a:t>
            </a:r>
          </a:p>
        </p:txBody>
      </p:sp>
      <p:graphicFrame>
        <p:nvGraphicFramePr>
          <p:cNvPr id="3" name="">
            <a:extLst xmlns:a="http://schemas.openxmlformats.org/drawingml/2006/main">
              <a:ext uri="{FF2B5EF4-FFF2-40B4-BE49-F238E27FC236}">
                <a16:creationId xmlns:a16="http://schemas.microsoft.com/office/drawing/2014/main" id="{887B07C3-B670-4F0C-B0A7-C6A3F5E07154}"/>
              </a:ext>
            </a:extLst>
          </p:cNvPr>
          <p:cNvGraphicFramePr/>
          <p:nvPr/>
        </p:nvGraphicFramePr>
        <p:xfrm>
          <a:off xmlns:a="http://schemas.openxmlformats.org/drawingml/2006/main" x="409575" y="1285875"/>
          <a:ext xmlns:a="http://schemas.openxmlformats.org/drawingml/2006/main" cx="8334375" cy="2905125"/>
        </p:xfrm>
        <a:graphic xmlns:a="http://schemas.openxmlformats.org/drawingml/2006/main">
          <a:graphicData uri="http://schemas.openxmlformats.org/drawingml/2006/table">
            <a:tbl>
              <a:tblPr/>
              <a:tblGrid>
                <a:gridCol w="2505075"/>
                <a:gridCol w="5829300"/>
              </a:tblGrid>
              <a:tr h="484188">
                <a:tc>
                  <a:txBody>
                    <a:bodyPr lIns="66675" tIns="66675" rIns="66675" bIns="66675"/>
                    <a:lstStyle/>
                    <a:p>
                      <a:r>
                        <a:rPr sz="1350" b="1">
                          <a:solidFill>
                            <a:srgbClr val="FFFFFF"/>
                          </a:solidFill>
                          <a:latin typeface="Arial"/>
                          <a:ea typeface="Arial"/>
                          <a:cs typeface="Arial"/>
                        </a:rPr>
                        <a:t>Stage / owner</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350" b="1">
                          <a:solidFill>
                            <a:srgbClr val="FFFFFF"/>
                          </a:solidFill>
                          <a:latin typeface="Arial"/>
                          <a:ea typeface="Arial"/>
                          <a:cs typeface="Arial"/>
                        </a:rPr>
                        <a:t>Concrete handoff or result</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84188">
                <a:tc>
                  <a:txBody>
                    <a:bodyPr lIns="66675" tIns="66675" rIns="66675" bIns="66675"/>
                    <a:lstStyle/>
                    <a:p>
                      <a:r>
                        <a:rPr sz="1350" b="0">
                          <a:solidFill>
                            <a:srgbClr val="666666"/>
                          </a:solidFill>
                          <a:latin typeface="Arial"/>
                          <a:ea typeface="Arial"/>
                          <a:cs typeface="Arial"/>
                        </a:rPr>
                        <a:t>Aditya: feasibility + setup</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Confirm lab, HTTPS and budget. Create repo, Terraform state and AWS baseline.</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Aditya: working API</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Publish contracts and a runnable submit/status/report flow with a dummy worker.</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Handoff to Arvind</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API URL, secret setup instructions, example responses, workflow acceptance tests.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Handoff to Chengyuan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Queue/job schemas, sample jobs, source/result examples, limits and test commands.</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350" b="0">
                          <a:solidFill>
                            <a:srgbClr val="666666"/>
                          </a:solidFill>
                          <a:latin typeface="Arial"/>
                          <a:ea typeface="Arial"/>
                          <a:cs typeface="Arial"/>
                        </a:rPr>
                        <a:t>Aditya leads integration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350" b="0">
                          <a:solidFill>
                            <a:srgbClr val="666666"/>
                          </a:solidFill>
                          <a:latin typeface="Arial"/>
                          <a:ea typeface="Arial"/>
                          <a:cs typeface="Arial"/>
                        </a:rPr>
                        <a:t>Combine finished components. Each owner fixes her/his part. Test and demo together.</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D8FE3E9-D8D3-4966-8EC5-CA1335D58119}"/>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The handoff must run before parallel implementation starts. Examples and mocks remove guesswork.</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Keep setup, schemas, test commands and runbooks in the same repository. Never document live secrets.</a:t>
            </a:r>
          </a:p>
        </p:txBody>
      </p:sp>
    </p:spTree>
    <p:extLst>
      <p:ext uri="{BB962C8B-B14F-4D97-AF65-F5344CB8AC3E}">
        <p14:creationId xmlns:p14="http://schemas.microsoft.com/office/powerpoint/2010/main" val="1940922639"/>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D0EFDC0-E139-453B-A54B-AE8824C15D87}"/>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Setup First, Then Parallel Work</a:t>
            </a:r>
          </a:p>
        </p:txBody>
      </p:sp>
      <p:graphicFrame>
        <p:nvGraphicFramePr>
          <p:cNvPr id="3" name="">
            <a:extLst xmlns:a="http://schemas.openxmlformats.org/drawingml/2006/main">
              <a:ext uri="{FF2B5EF4-FFF2-40B4-BE49-F238E27FC236}">
                <a16:creationId xmlns:a16="http://schemas.microsoft.com/office/drawing/2014/main" id="{69F4FF80-37D0-4C83-92CA-E96A01EFB78C}"/>
              </a:ext>
            </a:extLst>
          </p:cNvPr>
          <p:cNvGraphicFramePr/>
          <p:nvPr/>
        </p:nvGraphicFramePr>
        <p:xfrm>
          <a:off xmlns:a="http://schemas.openxmlformats.org/drawingml/2006/main" x="409575" y="1285875"/>
          <a:ext xmlns:a="http://schemas.openxmlformats.org/drawingml/2006/main" cx="8334375" cy="2905125"/>
        </p:xfrm>
        <a:graphic xmlns:a="http://schemas.openxmlformats.org/drawingml/2006/main">
          <a:graphicData uri="http://schemas.openxmlformats.org/drawingml/2006/table">
            <a:tbl>
              <a:tblPr/>
              <a:tblGrid>
                <a:gridCol w="1809750"/>
                <a:gridCol w="4810125"/>
                <a:gridCol w="1714500"/>
              </a:tblGrid>
              <a:tr h="484188">
                <a:tc>
                  <a:txBody>
                    <a:bodyPr lIns="66675" tIns="66675" rIns="66675" bIns="66675"/>
                    <a:lstStyle/>
                    <a:p>
                      <a:r>
                        <a:rPr sz="1275" b="1">
                          <a:solidFill>
                            <a:srgbClr val="FFFFFF"/>
                          </a:solidFill>
                          <a:latin typeface="Arial"/>
                          <a:ea typeface="Arial"/>
                          <a:cs typeface="Arial"/>
                        </a:rPr>
                        <a:t>Gate</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Evidence needed to proceed</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Lead</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84188">
                <a:tc>
                  <a:txBody>
                    <a:bodyPr lIns="66675" tIns="66675" rIns="66675" bIns="66675"/>
                    <a:lstStyle/>
                    <a:p>
                      <a:r>
                        <a:rPr sz="1275" b="0">
                          <a:solidFill>
                            <a:srgbClr val="666666"/>
                          </a:solidFill>
                          <a:latin typeface="Arial"/>
                          <a:ea typeface="Arial"/>
                          <a:cs typeface="Arial"/>
                        </a:rPr>
                        <a:t>A. Feasibility + setup</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Lab, roles, budget, HTTPS, repository and shared state verified.</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Aditya</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B. Working foundation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API, contracts, AWS baseline and dummy job work. Handoff guide is ready.</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Aditya</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C. Parallel build</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GitHub workflow and real worker develop against the agreed baseline.</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Arvind + Chengyuan</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D. Integration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Combine components and run PR, burst, resource-limit and failover tests.</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Aditya + team</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E. Release readiness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20-case evidence, rotation drill, rollback notes and original final demo.</a:t>
                      </a:r>
                    </a:p>
                  </a:txBody>
                  <a:tcPr marL="91440" marR="91440" marT="45720" marB="45720" anchor="ctr">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All three</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A7A40699-B175-45B0-856E-31618E79A787}"/>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Aditya owns every prerequisite. Arvind and Chengyuan have independent paths after the handoff.</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The project goals, final demo and two-node baseline remain unchanged.</a:t>
            </a:r>
          </a:p>
        </p:txBody>
      </p:sp>
    </p:spTree>
    <p:extLst>
      <p:ext uri="{BB962C8B-B14F-4D97-AF65-F5344CB8AC3E}">
        <p14:creationId xmlns:p14="http://schemas.microsoft.com/office/powerpoint/2010/main" val="116002569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6032EDE-68D7-4754-9813-DB0B2A2A3615}"/>
              </a:ext>
            </a:extLst>
          </p:cNvPr>
          <p:cNvSpPr>
            <a:spLocks xmlns:a="http://schemas.openxmlformats.org/drawingml/2006/main" noGrp="1"/>
          </p:cNvSpPr>
          <p:nvPr/>
        </p:nvSpPr>
        <p:spPr>
          <a:xfrm xmlns:a="http://schemas.openxmlformats.org/drawingml/2006/main">
            <a:off x="381000" y="466725"/>
            <a:ext cx="8429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FF5425"/>
                </a:solidFill>
                <a:latin typeface="Rockwell"/>
                <a:ea typeface="Rockwell"/>
                <a:cs typeface="Rockwell"/>
              </a:defRPr>
            </a:defPPr>
            <a:lvl1pPr algn="l">
              <a:defRPr sz="2850" b="1">
                <a:solidFill>
                  <a:srgbClr val="FF5425"/>
                </a:solidFill>
                <a:latin typeface="Rockwell"/>
                <a:ea typeface="Rockwell"/>
                <a:cs typeface="Rockwell"/>
              </a:defRPr>
            </a:lvl1pPr>
            <a:lvl2pPr algn="l">
              <a:defRPr sz="2850" b="1">
                <a:solidFill>
                  <a:srgbClr val="FF5425"/>
                </a:solidFill>
                <a:latin typeface="Rockwell"/>
                <a:ea typeface="Rockwell"/>
                <a:cs typeface="Rockwell"/>
              </a:defRPr>
            </a:lvl2pPr>
            <a:lvl3pPr algn="l">
              <a:defRPr sz="2850" b="1">
                <a:solidFill>
                  <a:srgbClr val="FF5425"/>
                </a:solidFill>
                <a:latin typeface="Rockwell"/>
                <a:ea typeface="Rockwell"/>
                <a:cs typeface="Rockwell"/>
              </a:defRPr>
            </a:lvl3pPr>
            <a:lvl4pPr algn="l">
              <a:defRPr sz="2850" b="1">
                <a:solidFill>
                  <a:srgbClr val="FF5425"/>
                </a:solidFill>
                <a:latin typeface="Rockwell"/>
                <a:ea typeface="Rockwell"/>
                <a:cs typeface="Rockwell"/>
              </a:defRPr>
            </a:lvl4pPr>
            <a:lvl5pPr algn="l">
              <a:defRPr sz="2850" b="1">
                <a:solidFill>
                  <a:srgbClr val="FF5425"/>
                </a:solidFill>
                <a:latin typeface="Rockwell"/>
                <a:ea typeface="Rockwell"/>
                <a:cs typeface="Rockwell"/>
              </a:defRPr>
            </a:lvl5pPr>
            <a:lvl6pPr algn="l">
              <a:defRPr sz="2850" b="1">
                <a:solidFill>
                  <a:srgbClr val="FF5425"/>
                </a:solidFill>
                <a:latin typeface="Rockwell"/>
                <a:ea typeface="Rockwell"/>
                <a:cs typeface="Rockwell"/>
              </a:defRPr>
            </a:lvl6pPr>
            <a:lvl7pPr algn="l">
              <a:defRPr sz="2850" b="1">
                <a:solidFill>
                  <a:srgbClr val="FF5425"/>
                </a:solidFill>
                <a:latin typeface="Rockwell"/>
                <a:ea typeface="Rockwell"/>
                <a:cs typeface="Rockwell"/>
              </a:defRPr>
            </a:lvl7pPr>
            <a:lvl8pPr algn="l">
              <a:defRPr sz="2850" b="1">
                <a:solidFill>
                  <a:srgbClr val="FF5425"/>
                </a:solidFill>
                <a:latin typeface="Rockwell"/>
                <a:ea typeface="Rockwell"/>
                <a:cs typeface="Rockwell"/>
              </a:defRPr>
            </a:lvl8pPr>
            <a:lvl9pPr algn="l">
              <a:defRPr sz="2850" b="1">
                <a:solidFill>
                  <a:srgbClr val="FF5425"/>
                </a:solidFill>
                <a:latin typeface="Rockwell"/>
                <a:ea typeface="Rockwell"/>
                <a:cs typeface="Rockwell"/>
              </a:defRPr>
            </a:lvl9pPr>
          </a:lstStyle>
          <a:p xmlns:a="http://schemas.openxmlformats.org/drawingml/2006/main">
            <a:pPr algn="l">
              <a:defRPr sz="2850" b="1">
                <a:solidFill>
                  <a:srgbClr val="FF5425"/>
                </a:solidFill>
                <a:latin typeface="Rockwell"/>
                <a:ea typeface="Rockwell"/>
                <a:cs typeface="Rockwell"/>
              </a:defRPr>
            </a:pPr>
            <a:r>
              <a:rPr sz="2850" b="1">
                <a:solidFill>
                  <a:srgbClr val="FF5425"/>
                </a:solidFill>
                <a:latin typeface="Rockwell"/>
                <a:ea typeface="Rockwell"/>
                <a:cs typeface="Rockwell"/>
              </a:rPr>
              <a:t>Feedback Decisions and Open Gates</a:t>
            </a:r>
          </a:p>
        </p:txBody>
      </p:sp>
      <p:graphicFrame>
        <p:nvGraphicFramePr>
          <p:cNvPr id="3" name="">
            <a:extLst xmlns:a="http://schemas.openxmlformats.org/drawingml/2006/main">
              <a:ext uri="{FF2B5EF4-FFF2-40B4-BE49-F238E27FC236}">
                <a16:creationId xmlns:a16="http://schemas.microsoft.com/office/drawing/2014/main" id="{DAE2BB06-8503-4F91-A246-0251233C48D1}"/>
              </a:ext>
            </a:extLst>
          </p:cNvPr>
          <p:cNvGraphicFramePr/>
          <p:nvPr/>
        </p:nvGraphicFramePr>
        <p:xfrm>
          <a:off xmlns:a="http://schemas.openxmlformats.org/drawingml/2006/main" x="409575" y="1285875"/>
          <a:ext xmlns:a="http://schemas.openxmlformats.org/drawingml/2006/main" cx="8334375" cy="2905125"/>
        </p:xfrm>
        <a:graphic xmlns:a="http://schemas.openxmlformats.org/drawingml/2006/main">
          <a:graphicData uri="http://schemas.openxmlformats.org/drawingml/2006/table">
            <a:tbl>
              <a:tblPr/>
              <a:tblGrid>
                <a:gridCol w="2419350"/>
                <a:gridCol w="5915025"/>
              </a:tblGrid>
              <a:tr h="484188">
                <a:tc>
                  <a:txBody>
                    <a:bodyPr lIns="66675" tIns="66675" rIns="66675" bIns="66675"/>
                    <a:lstStyle/>
                    <a:p>
                      <a:r>
                        <a:rPr sz="1275" b="1">
                          <a:solidFill>
                            <a:srgbClr val="FFFFFF"/>
                          </a:solidFill>
                          <a:latin typeface="Arial"/>
                          <a:ea typeface="Arial"/>
                          <a:cs typeface="Arial"/>
                        </a:rPr>
                        <a:t>Feedback</a:t>
                      </a:r>
                    </a:p>
                  </a:txBody>
                  <a:tcPr marL="91440" marR="91440" marT="45720" marB="45720" anchor="ctr">
                    <a:lnL w="6668">
                      <a:solidFill>
                        <a:srgbClr val="CCCCCC"/>
                      </a:solidFill>
                      <a:prstDash val="solid"/>
                    </a:lnL>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c>
                  <a:txBody>
                    <a:bodyPr lIns="66675" tIns="66675" rIns="66675" bIns="66675"/>
                    <a:lstStyle/>
                    <a:p>
                      <a:r>
                        <a:rPr sz="1275" b="1">
                          <a:solidFill>
                            <a:srgbClr val="FFFFFF"/>
                          </a:solidFill>
                          <a:latin typeface="Arial"/>
                          <a:ea typeface="Arial"/>
                          <a:cs typeface="Arial"/>
                        </a:rPr>
                        <a:t>Selected decision / reference</a:t>
                      </a:r>
                    </a:p>
                  </a:txBody>
                  <a:tcPr marL="91440" marR="91440" marT="45720" marB="45720" anchor="ctr">
                    <a:lnR w="6668">
                      <a:solidFill>
                        <a:srgbClr val="CCCCCC"/>
                      </a:solidFill>
                      <a:prstDash val="solid"/>
                    </a:lnR>
                    <a:lnT w="6668">
                      <a:solidFill>
                        <a:srgbClr val="CCCCCC"/>
                      </a:solidFill>
                      <a:prstDash val="solid"/>
                    </a:lnT>
                    <a:lnB w="6668">
                      <a:solidFill>
                        <a:srgbClr val="CCCCCC"/>
                      </a:solidFill>
                      <a:prstDash val="solid"/>
                    </a:lnB>
                    <a:solidFill>
                      <a:srgbClr val="FF5425"/>
                    </a:solidFill>
                  </a:tcPr>
                </a:tc>
              </a:tr>
              <a:tr h="484188">
                <a:tc>
                  <a:txBody>
                    <a:bodyPr lIns="66675" tIns="66675" rIns="66675" bIns="66675"/>
                    <a:lstStyle/>
                    <a:p>
                      <a:r>
                        <a:rPr sz="1275" b="0">
                          <a:solidFill>
                            <a:srgbClr val="666666"/>
                          </a:solidFill>
                          <a:latin typeface="Arial"/>
                          <a:ea typeface="Arial"/>
                          <a:cs typeface="Arial"/>
                        </a:rPr>
                        <a:t>Scope and single-host failure</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Same SAST gate and final demo. ALB / two nodes improve deployment reliability. Slides 2-3, 6, 10.</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Public 443 and endpoint exposure</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443 exists only on ALB. Token, validation and rate limits protect API. Slide 9.</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Busy scans and rapid pushes</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Durable queue, exact retry budget, per-PR cancellation and SHA binding. Slides 20-21.</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Token storage and rotation</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GitHub secret + SSM verifier hashes, timed overlap and revocation. Slide 22.</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r h="484188">
                <a:tc>
                  <a:txBody>
                    <a:bodyPr lIns="66675" tIns="66675" rIns="66675" bIns="66675"/>
                    <a:lstStyle/>
                    <a:p>
                      <a:r>
                        <a:rPr sz="1275" b="0">
                          <a:solidFill>
                            <a:srgbClr val="666666"/>
                          </a:solidFill>
                          <a:latin typeface="Arial"/>
                          <a:ea typeface="Arial"/>
                          <a:cs typeface="Arial"/>
                        </a:rPr>
                        <a:t>IaC and team ownership</a:t>
                      </a:r>
                    </a:p>
                  </a:txBody>
                  <a:tcPr marL="91440" marR="91440" marT="45720" marB="45720" anchor="ctr">
                    <a:lnL w="6668">
                      <a:solidFill>
                        <a:srgbClr val="CCCCCC"/>
                      </a:solidFill>
                      <a:prstDash val="solid"/>
                    </a:lnL>
                    <a:lnR w="6668">
                      <a:solidFill>
                        <a:srgbClr val="CCCCCC"/>
                      </a:solidFill>
                      <a:prstDash val="solid"/>
                    </a:lnR>
                    <a:lnB w="6668">
                      <a:solidFill>
                        <a:srgbClr val="CCCCCC"/>
                      </a:solidFill>
                      <a:prstDash val="solid"/>
                    </a:lnB>
                    <a:solidFill>
                      <a:srgbClr val="FFFFFF"/>
                    </a:solidFill>
                  </a:tcPr>
                </a:tc>
                <a:tc>
                  <a:txBody>
                    <a:bodyPr lIns="66675" tIns="66675" rIns="66675" bIns="66675"/>
                    <a:lstStyle/>
                    <a:p>
                      <a:r>
                        <a:rPr sz="1275" b="0">
                          <a:solidFill>
                            <a:srgbClr val="666666"/>
                          </a:solidFill>
                          <a:latin typeface="Arial"/>
                          <a:ea typeface="Arial"/>
                          <a:cs typeface="Arial"/>
                        </a:rPr>
                        <a:t>Shared encrypted/locked S3 state, proposed named owners, staged handoffs. Slides 14, 23-25.</a:t>
                      </a:r>
                    </a:p>
                  </a:txBody>
                  <a:tcPr marL="91440" marR="91440" marT="45720" marB="45720" anchor="ctr">
                    <a:lnR w="6668">
                      <a:solidFill>
                        <a:srgbClr val="CCCCCC"/>
                      </a:solidFill>
                      <a:prstDash val="solid"/>
                    </a:lnR>
                    <a:lnB w="6668">
                      <a:solidFill>
                        <a:srgbClr val="CCCCCC"/>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AAE0822-B1B3-414B-9826-D3EA944DAB46}"/>
              </a:ext>
            </a:extLst>
          </p:cNvPr>
          <p:cNvSpPr>
            <a:spLocks xmlns:a="http://schemas.openxmlformats.org/drawingml/2006/main" noGrp="1"/>
          </p:cNvSpPr>
          <p:nvPr/>
        </p:nvSpPr>
        <p:spPr>
          <a:xfrm xmlns:a="http://schemas.openxmlformats.org/drawingml/2006/main">
            <a:off x="409575" y="4391025"/>
            <a:ext cx="8334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666666"/>
                </a:solidFill>
                <a:latin typeface="Arial"/>
                <a:ea typeface="Arial"/>
                <a:cs typeface="Arial"/>
              </a:defRPr>
            </a:defPPr>
            <a:lvl1pPr algn="l">
              <a:defRPr sz="1425" b="0">
                <a:solidFill>
                  <a:srgbClr val="666666"/>
                </a:solidFill>
                <a:latin typeface="Arial"/>
                <a:ea typeface="Arial"/>
                <a:cs typeface="Arial"/>
              </a:defRPr>
            </a:lvl1pPr>
            <a:lvl2pPr algn="l">
              <a:defRPr sz="1425" b="0">
                <a:solidFill>
                  <a:srgbClr val="666666"/>
                </a:solidFill>
                <a:latin typeface="Arial"/>
                <a:ea typeface="Arial"/>
                <a:cs typeface="Arial"/>
              </a:defRPr>
            </a:lvl2pPr>
            <a:lvl3pPr algn="l">
              <a:defRPr sz="1425" b="0">
                <a:solidFill>
                  <a:srgbClr val="666666"/>
                </a:solidFill>
                <a:latin typeface="Arial"/>
                <a:ea typeface="Arial"/>
                <a:cs typeface="Arial"/>
              </a:defRPr>
            </a:lvl3pPr>
            <a:lvl4pPr algn="l">
              <a:defRPr sz="1425" b="0">
                <a:solidFill>
                  <a:srgbClr val="666666"/>
                </a:solidFill>
                <a:latin typeface="Arial"/>
                <a:ea typeface="Arial"/>
                <a:cs typeface="Arial"/>
              </a:defRPr>
            </a:lvl4pPr>
            <a:lvl5pPr algn="l">
              <a:defRPr sz="1425" b="0">
                <a:solidFill>
                  <a:srgbClr val="666666"/>
                </a:solidFill>
                <a:latin typeface="Arial"/>
                <a:ea typeface="Arial"/>
                <a:cs typeface="Arial"/>
              </a:defRPr>
            </a:lvl5pPr>
            <a:lvl6pPr algn="l">
              <a:defRPr sz="1425" b="0">
                <a:solidFill>
                  <a:srgbClr val="666666"/>
                </a:solidFill>
                <a:latin typeface="Arial"/>
                <a:ea typeface="Arial"/>
                <a:cs typeface="Arial"/>
              </a:defRPr>
            </a:lvl6pPr>
            <a:lvl7pPr algn="l">
              <a:defRPr sz="1425" b="0">
                <a:solidFill>
                  <a:srgbClr val="666666"/>
                </a:solidFill>
                <a:latin typeface="Arial"/>
                <a:ea typeface="Arial"/>
                <a:cs typeface="Arial"/>
              </a:defRPr>
            </a:lvl7pPr>
            <a:lvl8pPr algn="l">
              <a:defRPr sz="1425" b="0">
                <a:solidFill>
                  <a:srgbClr val="666666"/>
                </a:solidFill>
                <a:latin typeface="Arial"/>
                <a:ea typeface="Arial"/>
                <a:cs typeface="Arial"/>
              </a:defRPr>
            </a:lvl8pPr>
            <a:lvl9pPr algn="l">
              <a:defRPr sz="1425" b="0">
                <a:solidFill>
                  <a:srgbClr val="666666"/>
                </a:solidFill>
                <a:latin typeface="Arial"/>
                <a:ea typeface="Arial"/>
                <a:cs typeface="Arial"/>
              </a:defRPr>
            </a:lvl9pPr>
          </a:lstStyle>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Before build: Confirm lab permissions, certificate, cost, and proposed responsibilities.</a:t>
            </a:r>
          </a:p>
          <a:p xmlns:a="http://schemas.openxmlformats.org/drawingml/2006/main">
            <a:pPr algn="l">
              <a:defRPr sz="1425" b="0">
                <a:solidFill>
                  <a:srgbClr val="666666"/>
                </a:solidFill>
                <a:latin typeface="Arial"/>
                <a:ea typeface="Arial"/>
                <a:cs typeface="Arial"/>
              </a:defRPr>
            </a:pPr>
            <a:r>
              <a:rPr sz="1425" b="0">
                <a:solidFill>
                  <a:srgbClr val="666666"/>
                </a:solidFill>
                <a:latin typeface="Arial"/>
                <a:ea typeface="Arial"/>
                <a:cs typeface="Arial"/>
              </a:rPr>
              <a:t>Then work from the single architecture, contracts, and acceptance criteria in this deck.</a:t>
            </a:r>
          </a:p>
        </p:txBody>
      </p:sp>
    </p:spTree>
    <p:extLst>
      <p:ext uri="{BB962C8B-B14F-4D97-AF65-F5344CB8AC3E}">
        <p14:creationId xmlns:p14="http://schemas.microsoft.com/office/powerpoint/2010/main" val="144958892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2026-10-25T02:54:36.0590000Z</dcterms:created>
  <dcterms:modified xsi:type="dcterms:W3CDTF">2026-10-25T02:54:36.0590000Z</dcterms:modified>
</coreProperties>
</file>